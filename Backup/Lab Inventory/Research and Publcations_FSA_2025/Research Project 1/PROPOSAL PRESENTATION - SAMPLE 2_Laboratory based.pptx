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327" r:id="rId4"/>
    <p:sldId id="259" r:id="rId5"/>
    <p:sldId id="270" r:id="rId6"/>
    <p:sldId id="271" r:id="rId7"/>
    <p:sldId id="260" r:id="rId8"/>
    <p:sldId id="274" r:id="rId9"/>
    <p:sldId id="275" r:id="rId10"/>
    <p:sldId id="261" r:id="rId11"/>
    <p:sldId id="263" r:id="rId12"/>
    <p:sldId id="264" r:id="rId13"/>
    <p:sldId id="265" r:id="rId14"/>
    <p:sldId id="276" r:id="rId15"/>
    <p:sldId id="277" r:id="rId16"/>
    <p:sldId id="278" r:id="rId17"/>
    <p:sldId id="267" r:id="rId18"/>
    <p:sldId id="268" r:id="rId19"/>
    <p:sldId id="269" r:id="rId20"/>
    <p:sldId id="42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1114" y="1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85279-C97C-4736-AE48-1E4B6CF3288A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AFF6C-5C28-4076-9F2C-90DAB8DCF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8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C0C216-AA49-4683-8445-A6B8095B04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6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37C23-B45B-49CE-90E5-E71E7CE16D0A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1ABF5-4AF3-4851-BC90-5F989AD402A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marketresearchstore.com/report/bottled-water-market-z3968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666" y="2305446"/>
            <a:ext cx="8170333" cy="1885553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THE EFFECT OF SUNLIGHT EXPOSURE IN MICROBIAL QUALITY STANDARDS IN BOTTLED DRINKING WATER UNDER AMBIENT ENVIRONMENTAL CONDITIONS IN COLOMBO DIVISIONAL SECRETARAIT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912" y="5055398"/>
            <a:ext cx="5813425" cy="1574002"/>
          </a:xfrm>
        </p:spPr>
        <p:txBody>
          <a:bodyPr>
            <a:noAutofit/>
          </a:bodyPr>
          <a:lstStyle/>
          <a:p>
            <a:r>
              <a:rPr lang="en-US" sz="2000" b="1" dirty="0" err="1"/>
              <a:t>Fathima</a:t>
            </a:r>
            <a:r>
              <a:rPr lang="en-US" sz="2000" b="1" dirty="0"/>
              <a:t> </a:t>
            </a:r>
            <a:r>
              <a:rPr lang="en-US" sz="2000" b="1" dirty="0" err="1"/>
              <a:t>Rukaiya</a:t>
            </a:r>
            <a:r>
              <a:rPr lang="en-US" sz="2000" b="1" dirty="0"/>
              <a:t> </a:t>
            </a:r>
            <a:r>
              <a:rPr lang="en-US" sz="2000" b="1" dirty="0" err="1"/>
              <a:t>Safeer</a:t>
            </a:r>
            <a:endParaRPr lang="en-GB" sz="2000" dirty="0"/>
          </a:p>
          <a:p>
            <a:r>
              <a:rPr lang="en-US" sz="2000" b="1" dirty="0"/>
              <a:t>Matrix Number: 072019070002</a:t>
            </a:r>
          </a:p>
          <a:p>
            <a:r>
              <a:rPr lang="en-US" sz="1800" b="1" dirty="0"/>
              <a:t>Faculty of Life and Health Sciences</a:t>
            </a:r>
            <a:endParaRPr lang="en-GB" sz="1800" dirty="0"/>
          </a:p>
          <a:p>
            <a:r>
              <a:rPr lang="en-US" sz="1800" b="1" dirty="0"/>
              <a:t>Management &amp; Science Institute (MSI) , Colombo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3ABB8-C2C8-4206-9494-8BA308EE747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1650" y="1212132"/>
            <a:ext cx="8229600" cy="69286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F775E-35AC-498A-ABA0-002C0478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05" y="2347884"/>
            <a:ext cx="7583488" cy="3175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Chapter 1 - Introduction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Chapter 2 - Research Methodology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400" b="0" kern="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pPr eaLnBrk="1" hangingPunct="1">
              <a:buFontTx/>
              <a:buNone/>
            </a:pPr>
            <a:endParaRPr lang="en-US" sz="24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54BD9D-7ACE-40A0-9A95-CF5001C8A79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7450" y="2126916"/>
            <a:ext cx="8680450" cy="458311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400" dirty="0">
                <a:cs typeface="Calibri" panose="020F0502020204030204" pitchFamily="34" charset="0"/>
              </a:rPr>
              <a:t>Background </a:t>
            </a:r>
            <a:r>
              <a:rPr lang="en-GB" sz="2400" dirty="0"/>
              <a:t>Information</a:t>
            </a:r>
            <a:endParaRPr lang="en-US" sz="2400" dirty="0">
              <a:cs typeface="Calibri" panose="020F0502020204030204" pitchFamily="34" charset="0"/>
            </a:endParaRP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Justification 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Research Objectives 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Significance of the study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Limitation of the study</a:t>
            </a:r>
          </a:p>
          <a:p>
            <a:pPr marL="0" indent="0"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855663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b="1" dirty="0">
                <a:latin typeface="Arial" pitchFamily="34" charset="0"/>
              </a:rPr>
              <a:t>Chapter 1 - Introduction</a:t>
            </a:r>
            <a:endParaRPr lang="en-US" sz="3600" b="1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350" y="1746250"/>
            <a:ext cx="8686800" cy="5734049"/>
          </a:xfrm>
        </p:spPr>
        <p:txBody>
          <a:bodyPr>
            <a:normAutofit/>
          </a:bodyPr>
          <a:lstStyle/>
          <a:p>
            <a:r>
              <a:rPr lang="en-GB" sz="2200" dirty="0"/>
              <a:t>Diseases caused due to unhygienic water is a  prime health topics worldwide (Shams </a:t>
            </a:r>
            <a:r>
              <a:rPr lang="en-GB" sz="2200" i="1" dirty="0"/>
              <a:t>et al.,</a:t>
            </a:r>
            <a:r>
              <a:rPr lang="en-GB" sz="2200" dirty="0"/>
              <a:t> 2019)</a:t>
            </a:r>
          </a:p>
          <a:p>
            <a:endParaRPr lang="en-GB" sz="2200" dirty="0"/>
          </a:p>
          <a:p>
            <a:r>
              <a:rPr lang="en-GB" sz="2200" dirty="0"/>
              <a:t>Consumption of bottled water continues to increase steadily as a result of public concerns about microbial and chemical contaminants in tap water (</a:t>
            </a:r>
            <a:r>
              <a:rPr lang="en-GB" sz="2200" dirty="0" err="1"/>
              <a:t>Venkatesan</a:t>
            </a:r>
            <a:r>
              <a:rPr lang="en-GB" sz="2200" dirty="0"/>
              <a:t>, </a:t>
            </a:r>
            <a:r>
              <a:rPr lang="en-GB" sz="2200" dirty="0" err="1"/>
              <a:t>Balaji</a:t>
            </a:r>
            <a:r>
              <a:rPr lang="en-GB" sz="2200" dirty="0"/>
              <a:t> and Victor 2014)</a:t>
            </a:r>
          </a:p>
          <a:p>
            <a:endParaRPr lang="en-GB" sz="2200" dirty="0"/>
          </a:p>
          <a:p>
            <a:r>
              <a:rPr lang="en-GB" sz="2200" dirty="0"/>
              <a:t>Consumption of bottled water has increased 200% in the past decade and projected to increase demand by 30% in the next 5 years(</a:t>
            </a:r>
            <a:r>
              <a:rPr lang="en-GB" sz="2200" dirty="0" err="1"/>
              <a:t>Penland</a:t>
            </a:r>
            <a:r>
              <a:rPr lang="en-GB" sz="2200" dirty="0"/>
              <a:t> and </a:t>
            </a:r>
            <a:r>
              <a:rPr lang="en-GB" sz="2200" dirty="0" err="1"/>
              <a:t>Wilhelmus</a:t>
            </a:r>
            <a:r>
              <a:rPr lang="en-GB" sz="2200" dirty="0"/>
              <a:t> 1999). </a:t>
            </a:r>
          </a:p>
          <a:p>
            <a:endParaRPr lang="en-GB" sz="2200" dirty="0"/>
          </a:p>
          <a:p>
            <a:r>
              <a:rPr lang="en-GB" sz="2200" dirty="0"/>
              <a:t>Severe guidelines have been enforced to regulate the quality of bottled water in several countries because it has become prominent throughout the world (WHO 2002) 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11655F-D740-455A-A8E2-68B8408A0817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E7207A-9DEA-43CA-8747-D6BC44FF8CC7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cs typeface="Calibri" pitchFamily="34" charset="0"/>
              </a:rPr>
              <a:t>Background </a:t>
            </a:r>
            <a:r>
              <a:rPr lang="en-GB" sz="3600" b="1" dirty="0"/>
              <a:t>Information</a:t>
            </a:r>
            <a:endParaRPr lang="en-US" sz="3600" b="1" kern="0" dirty="0"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99" y="1075266"/>
            <a:ext cx="8746067" cy="55795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US" sz="1800" dirty="0">
              <a:hlinkClick r:id="rId2"/>
            </a:endParaRP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i="1" dirty="0"/>
              <a:t>Source: </a:t>
            </a:r>
            <a:r>
              <a:rPr lang="en-US" sz="1600" dirty="0"/>
              <a:t>https://www.marketresearchstore.com/report/bottled-water-market-z39681</a:t>
            </a:r>
            <a:endParaRPr lang="en-GB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1" y="1270634"/>
            <a:ext cx="8288382" cy="4535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7" y="1007533"/>
            <a:ext cx="8627533" cy="568113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600" b="1" dirty="0"/>
              <a:t>In Sri Lanka</a:t>
            </a:r>
            <a:endParaRPr lang="en-GB" sz="2200" b="1" dirty="0"/>
          </a:p>
          <a:p>
            <a:r>
              <a:rPr lang="en-GB" sz="2400" dirty="0"/>
              <a:t>Use of bottled water has been increasing over the last decade (</a:t>
            </a:r>
            <a:r>
              <a:rPr lang="en-GB" sz="2400" dirty="0" err="1"/>
              <a:t>Sasikaran</a:t>
            </a:r>
            <a:r>
              <a:rPr lang="en-GB" sz="2400" dirty="0"/>
              <a:t> </a:t>
            </a:r>
            <a:r>
              <a:rPr lang="en-GB" sz="2400" i="1" dirty="0"/>
              <a:t>et al.,</a:t>
            </a:r>
            <a:r>
              <a:rPr lang="en-GB" sz="2400" dirty="0"/>
              <a:t> 2012)</a:t>
            </a:r>
          </a:p>
          <a:p>
            <a:endParaRPr lang="en-GB" sz="2400" dirty="0"/>
          </a:p>
          <a:p>
            <a:r>
              <a:rPr lang="en-GB" sz="2400" dirty="0"/>
              <a:t>The Public Health Division of the Ministry of Health, Sri Lanka 2019, registers 181 packaged drinking water brands</a:t>
            </a:r>
          </a:p>
          <a:p>
            <a:endParaRPr lang="en-GB" sz="2400" dirty="0"/>
          </a:p>
          <a:p>
            <a:r>
              <a:rPr lang="en-GB" sz="2400" dirty="0"/>
              <a:t>Packaged and natural mineral water producers get a verification of registration from the Food Authority of Sri Lanka, to either produce or import bottled drinking water (</a:t>
            </a:r>
            <a:r>
              <a:rPr lang="en-GB" sz="2400" dirty="0" err="1"/>
              <a:t>Herath</a:t>
            </a:r>
            <a:r>
              <a:rPr lang="en-GB" sz="2400" dirty="0"/>
              <a:t> </a:t>
            </a:r>
            <a:r>
              <a:rPr lang="en-GB" sz="2400" i="1" dirty="0"/>
              <a:t>et al</a:t>
            </a:r>
            <a:r>
              <a:rPr lang="en-GB" sz="2400" dirty="0"/>
              <a:t>. 2012) 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Because of expanded interest, there is a theory that</a:t>
            </a:r>
          </a:p>
          <a:p>
            <a:pPr indent="0">
              <a:buNone/>
            </a:pPr>
            <a:r>
              <a:rPr lang="en-GB" sz="2400" dirty="0"/>
              <a:t>numerous unlawfully packed brands are present in</a:t>
            </a:r>
          </a:p>
          <a:p>
            <a:pPr indent="0">
              <a:buNone/>
            </a:pPr>
            <a:r>
              <a:rPr lang="en-GB" sz="2400" dirty="0"/>
              <a:t>the market (</a:t>
            </a:r>
            <a:r>
              <a:rPr lang="en-GB" sz="2400" dirty="0" err="1"/>
              <a:t>Sasikaran</a:t>
            </a:r>
            <a:r>
              <a:rPr lang="en-GB" sz="2400" dirty="0"/>
              <a:t> </a:t>
            </a:r>
            <a:r>
              <a:rPr lang="en-GB" sz="2400" i="1" dirty="0"/>
              <a:t>et al.,</a:t>
            </a:r>
            <a:r>
              <a:rPr lang="en-GB" sz="2400" dirty="0"/>
              <a:t> 2012)</a:t>
            </a:r>
          </a:p>
          <a:p>
            <a:pPr marL="0" indent="0">
              <a:buNone/>
            </a:pPr>
            <a:endParaRPr lang="en-GB" sz="2200" dirty="0"/>
          </a:p>
          <a:p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486" y="4897754"/>
            <a:ext cx="2430438" cy="1857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2" y="1913890"/>
            <a:ext cx="8712200" cy="4766310"/>
          </a:xfrm>
        </p:spPr>
        <p:txBody>
          <a:bodyPr>
            <a:normAutofit/>
          </a:bodyPr>
          <a:lstStyle/>
          <a:p>
            <a:r>
              <a:rPr lang="en-GB" sz="2400" dirty="0"/>
              <a:t>Continually rising usage of bottled water and consumer’s belief that they are of high quality shows the need to emphasize on this topic</a:t>
            </a:r>
            <a:endParaRPr lang="en-GB" sz="2400" b="1" dirty="0"/>
          </a:p>
          <a:p>
            <a:endParaRPr lang="en-GB" sz="2400" dirty="0"/>
          </a:p>
          <a:p>
            <a:r>
              <a:rPr lang="en-GB" sz="2400" dirty="0"/>
              <a:t>Manufacturers' adherence to bottled water regulations is questionable, raising concerns regarding the quality of bottled water in the country </a:t>
            </a:r>
          </a:p>
          <a:p>
            <a:endParaRPr lang="en-GB" sz="2400" dirty="0"/>
          </a:p>
          <a:p>
            <a:r>
              <a:rPr lang="en-GB" sz="2400" dirty="0"/>
              <a:t>In a previous study conducted in Sri Lanka eighty percent of brands showed higher heterotrophic plate counts (HPC) which exceeded the WHO guidelines for bottled drinking water (</a:t>
            </a:r>
            <a:r>
              <a:rPr lang="en-GB" sz="2400" dirty="0" err="1"/>
              <a:t>Herath</a:t>
            </a:r>
            <a:r>
              <a:rPr lang="en-GB" sz="2400" dirty="0"/>
              <a:t> </a:t>
            </a:r>
            <a:r>
              <a:rPr lang="en-GB" sz="2400" i="1" dirty="0"/>
              <a:t>et al</a:t>
            </a:r>
            <a:r>
              <a:rPr lang="en-GB" sz="2400" dirty="0"/>
              <a:t>., 2012)</a:t>
            </a:r>
          </a:p>
          <a:p>
            <a:endParaRPr lang="en-GB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1611F6-A5D4-41BD-A994-78BDA1E425EE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14AAAF-F6F3-40B6-8E84-4490818D27F1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3600" b="1" dirty="0"/>
              <a:t>Justification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1860550"/>
            <a:ext cx="8606790" cy="4806950"/>
          </a:xfrm>
        </p:spPr>
        <p:txBody>
          <a:bodyPr>
            <a:normAutofit/>
          </a:bodyPr>
          <a:lstStyle/>
          <a:p>
            <a:r>
              <a:rPr lang="en-GB" sz="2400" dirty="0"/>
              <a:t>The outcomes of this research on bottled water quality allows an enhanced understanding of the situation which is damaging the nature of bottled water and are valuable data for consumers</a:t>
            </a:r>
          </a:p>
          <a:p>
            <a:endParaRPr lang="en-GB" sz="2400" dirty="0"/>
          </a:p>
          <a:p>
            <a:r>
              <a:rPr lang="en-GB" sz="2400" dirty="0"/>
              <a:t>It will likewise give a strong basis by which modifications of guidelines administering bottled water quality can be based</a:t>
            </a:r>
          </a:p>
          <a:p>
            <a:endParaRPr lang="en-GB" sz="2400" dirty="0"/>
          </a:p>
          <a:p>
            <a:r>
              <a:rPr lang="en-GB" sz="2400" dirty="0"/>
              <a:t>The continually rising usage of bottled water and consumer’s belief that they are of high quality shows the need to emphasize on this topic </a:t>
            </a:r>
          </a:p>
          <a:p>
            <a:endParaRPr lang="en-GB" sz="2200" dirty="0"/>
          </a:p>
          <a:p>
            <a:endParaRPr lang="en-GB" sz="22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CB41F9-DDED-4672-A80E-51B66A2957FE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D3E2E3-26E4-44CB-AB62-2BB103CAADC0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3600" b="1" dirty="0"/>
              <a:t>Significance</a:t>
            </a:r>
          </a:p>
        </p:txBody>
      </p:sp>
    </p:spTree>
    <p:extLst>
      <p:ext uri="{BB962C8B-B14F-4D97-AF65-F5344CB8AC3E}">
        <p14:creationId xmlns:p14="http://schemas.microsoft.com/office/powerpoint/2010/main" val="429364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1864360"/>
            <a:ext cx="8606790" cy="4765040"/>
          </a:xfrm>
        </p:spPr>
        <p:txBody>
          <a:bodyPr>
            <a:normAutofit/>
          </a:bodyPr>
          <a:lstStyle/>
          <a:p>
            <a:r>
              <a:rPr lang="en-GB" sz="2200" dirty="0"/>
              <a:t>Selected only 60 total samples and 5 brands </a:t>
            </a:r>
          </a:p>
          <a:p>
            <a:endParaRPr lang="en-GB" sz="2200" dirty="0"/>
          </a:p>
          <a:p>
            <a:r>
              <a:rPr lang="en-GB" sz="2200" dirty="0"/>
              <a:t>Identification is not up to species level  </a:t>
            </a:r>
          </a:p>
          <a:p>
            <a:endParaRPr lang="en-GB" sz="2200" dirty="0"/>
          </a:p>
          <a:p>
            <a:r>
              <a:rPr lang="en-GB" sz="2200" dirty="0"/>
              <a:t>Only within the Colombo Divisional Secretariat area</a:t>
            </a: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643ED2-0F4A-49A1-8C4F-782710372007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C9910C-1667-481E-BDF9-267EC01C4E53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3600" b="1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18248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1939291"/>
            <a:ext cx="8763000" cy="4918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  </a:t>
            </a:r>
            <a:r>
              <a:rPr lang="en-GB" b="1" dirty="0"/>
              <a:t>General Objective</a:t>
            </a:r>
          </a:p>
          <a:p>
            <a:pPr marL="800100" lvl="0" indent="-342900"/>
            <a:r>
              <a:rPr lang="en-US" sz="2400" dirty="0"/>
              <a:t>To assess the effect of sunlight exposure in microbial quality standards of bottled water distributed in Colombo Divisional Secretariat under ambient environmental conditions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b="1" dirty="0"/>
              <a:t>Specific Objective</a:t>
            </a:r>
          </a:p>
          <a:p>
            <a:pPr marL="800100" indent="-342900"/>
            <a:r>
              <a:rPr lang="en-GB" sz="2400" dirty="0"/>
              <a:t>To assess types of algae present in bottled water exposed to sunlight</a:t>
            </a:r>
            <a:r>
              <a:rPr lang="en-GB" sz="2400" i="1" dirty="0"/>
              <a:t>  </a:t>
            </a:r>
          </a:p>
          <a:p>
            <a:pPr marL="800100" indent="-342900"/>
            <a:r>
              <a:rPr lang="en-GB" sz="2400" dirty="0"/>
              <a:t>To assess the bacterial species present in bottled water exposed to sunlight </a:t>
            </a:r>
          </a:p>
          <a:p>
            <a:pPr marL="800100" indent="-342900"/>
            <a:r>
              <a:rPr lang="en-GB" sz="2400" dirty="0"/>
              <a:t>To determine the average number of viable colony counts for bacteria isolated from each brand of bottled water</a:t>
            </a:r>
            <a:endParaRPr lang="en-US" sz="24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18FCA2-E8E3-4C3C-B987-BC57F28FBB9B}"/>
              </a:ext>
            </a:extLst>
          </p:cNvPr>
          <p:cNvSpPr txBox="1">
            <a:spLocks/>
          </p:cNvSpPr>
          <p:nvPr/>
        </p:nvSpPr>
        <p:spPr>
          <a:xfrm>
            <a:off x="457200" y="733425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2800" dirty="0">
                <a:latin typeface="Arial" pitchFamily="34" charset="0"/>
              </a:rPr>
              <a:t>Chapter 1 - Introduction</a:t>
            </a:r>
            <a:endParaRPr lang="en-US" sz="28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4D5694-5ED0-45BC-8ABD-8A17BBB0A7CC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3600" b="1" dirty="0"/>
              <a:t>Objectives</a:t>
            </a:r>
            <a:endParaRPr lang="en-GB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349" y="2135187"/>
            <a:ext cx="8623301" cy="4583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Study Design</a:t>
            </a:r>
          </a:p>
          <a:p>
            <a:r>
              <a:rPr lang="en-GB" sz="2400" dirty="0"/>
              <a:t>A descriptive cross-sectional study design</a:t>
            </a:r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Sample Selection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Simple random sampling - 5 supermarkets and  convenience stores will be chosen to do the survey  </a:t>
            </a:r>
            <a:endParaRPr lang="en-US" sz="2400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Study Setting</a:t>
            </a:r>
          </a:p>
          <a:p>
            <a:r>
              <a:rPr lang="en-GB" sz="2400" dirty="0"/>
              <a:t>Water bottle will be purchased from selected manufacturers located within the boundaries of Colombo divisional secretariat</a:t>
            </a:r>
            <a:endParaRPr lang="en-GB" sz="2400" b="1" dirty="0"/>
          </a:p>
          <a:p>
            <a:endParaRPr lang="en-GB" sz="2300" dirty="0"/>
          </a:p>
          <a:p>
            <a:pPr marL="0" indent="0">
              <a:buNone/>
            </a:pPr>
            <a:endParaRPr lang="en-GB" sz="23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1AF9C5-CF20-4F1B-A7D5-C1435B603857}"/>
              </a:ext>
            </a:extLst>
          </p:cNvPr>
          <p:cNvSpPr txBox="1">
            <a:spLocks/>
          </p:cNvSpPr>
          <p:nvPr/>
        </p:nvSpPr>
        <p:spPr>
          <a:xfrm>
            <a:off x="457200" y="855663"/>
            <a:ext cx="8229600" cy="5619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b="1" kern="0" dirty="0">
                <a:latin typeface="Arial" panose="020B0604020202020204" pitchFamily="34" charset="0"/>
                <a:cs typeface="Arial" panose="020B0604020202020204" pitchFamily="34" charset="0"/>
              </a:rPr>
              <a:t>Chapter 2 - Research Methodology</a:t>
            </a:r>
          </a:p>
          <a:p>
            <a:pPr algn="ctr" eaLnBrk="0" hangingPunct="0">
              <a:defRPr/>
            </a:pPr>
            <a:endParaRPr lang="en-US" sz="3600" b="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100094-E0C0-4E25-BE5A-C7DC5D32A308}"/>
              </a:ext>
            </a:extLst>
          </p:cNvPr>
          <p:cNvSpPr txBox="1">
            <a:spLocks/>
          </p:cNvSpPr>
          <p:nvPr/>
        </p:nvSpPr>
        <p:spPr>
          <a:xfrm>
            <a:off x="457200" y="1495425"/>
            <a:ext cx="8229600" cy="561975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latin typeface="Calibri" pitchFamily="34" charset="0"/>
                <a:cs typeface="Calibri" pitchFamily="34" charset="0"/>
              </a:rPr>
              <a:t>Materials and Methods</a:t>
            </a:r>
            <a:endParaRPr lang="en-US" sz="3600" b="1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2" y="960120"/>
            <a:ext cx="8566150" cy="56997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b="1" dirty="0"/>
              <a:t>Materials &amp; methods Cont.</a:t>
            </a:r>
            <a:endParaRPr lang="en-GB" sz="39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Study Period</a:t>
            </a:r>
          </a:p>
          <a:p>
            <a:r>
              <a:rPr lang="en-GB" sz="2400" dirty="0"/>
              <a:t>August 2019 until May 2020 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Sample Size</a:t>
            </a:r>
          </a:p>
          <a:p>
            <a:r>
              <a:rPr lang="en-GB" sz="2400" dirty="0"/>
              <a:t>Sample size - 60 (due to the practical feasibility of the research)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Sampling Technique</a:t>
            </a:r>
            <a:endParaRPr lang="en-GB" dirty="0"/>
          </a:p>
          <a:p>
            <a:r>
              <a:rPr lang="en-GB" sz="2400" dirty="0"/>
              <a:t>Simple Random Sampling - to specify the brands for the study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052" y="937260"/>
            <a:ext cx="8642350" cy="57683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b="1" dirty="0"/>
              <a:t>Materials &amp; methods Cont.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Sampling Implementation </a:t>
            </a:r>
            <a:endParaRPr lang="en-GB" sz="2400" b="1" dirty="0"/>
          </a:p>
          <a:p>
            <a:pPr marL="0" indent="0">
              <a:buNone/>
            </a:pPr>
            <a:r>
              <a:rPr lang="en-GB" b="1" dirty="0"/>
              <a:t>Collection of Sample</a:t>
            </a:r>
          </a:p>
          <a:p>
            <a:r>
              <a:rPr lang="en-GB" sz="2400" dirty="0"/>
              <a:t>4 different batches of 5 different brands will be collected once in 2 weeks for 2 months directly from the manufacturing company 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3 bottles will be purchased each collection time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sz="2400" b="1" dirty="0"/>
              <a:t> </a:t>
            </a:r>
            <a:endParaRPr lang="en-GB" sz="2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90" y="948690"/>
            <a:ext cx="8629650" cy="5772150"/>
          </a:xfrm>
        </p:spPr>
        <p:txBody>
          <a:bodyPr/>
          <a:lstStyle/>
          <a:p>
            <a:pPr marL="0" indent="0" algn="ctr">
              <a:buNone/>
            </a:pPr>
            <a:r>
              <a:rPr lang="en-GB" sz="3600" b="1" dirty="0"/>
              <a:t>Materials &amp; methods Cont.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Sample Preparation</a:t>
            </a:r>
          </a:p>
          <a:p>
            <a:r>
              <a:rPr lang="en-GB" sz="2400" dirty="0"/>
              <a:t>Control batch – the first batch of samples and will be analysed immediately after collection</a:t>
            </a:r>
          </a:p>
          <a:p>
            <a:endParaRPr lang="en-GB" sz="2400" dirty="0"/>
          </a:p>
          <a:p>
            <a:r>
              <a:rPr lang="en-GB" sz="2400" dirty="0"/>
              <a:t>Second batch will be </a:t>
            </a:r>
            <a:r>
              <a:rPr lang="en-US" sz="2400" dirty="0"/>
              <a:t>tested after 14 days :                                  </a:t>
            </a:r>
          </a:p>
          <a:p>
            <a:pPr marL="1371600" indent="-457200">
              <a:buFont typeface="+mj-lt"/>
              <a:buAutoNum type="arabicPeriod"/>
            </a:pPr>
            <a:r>
              <a:rPr lang="en-US" sz="2400" dirty="0"/>
              <a:t>exposed to sunlight for 9 hours per day between 8 a.m. to 5 p.m. </a:t>
            </a:r>
          </a:p>
          <a:p>
            <a:pPr marL="1371600" indent="-457200">
              <a:buFont typeface="+mj-lt"/>
              <a:buAutoNum type="arabicPeriod"/>
            </a:pPr>
            <a:r>
              <a:rPr lang="en-US" sz="2400" dirty="0"/>
              <a:t>samples will not be exposed to sunlight</a:t>
            </a:r>
            <a:endParaRPr lang="en-GB" sz="2400" b="1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999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948690"/>
            <a:ext cx="8743950" cy="5657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b="1" dirty="0"/>
              <a:t>Methodology Cont.</a:t>
            </a:r>
          </a:p>
          <a:p>
            <a:pPr marL="0" indent="0">
              <a:buNone/>
            </a:pPr>
            <a:r>
              <a:rPr lang="en-GB" b="1" dirty="0"/>
              <a:t>Bacterial Assessment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 algn="ctr">
              <a:buNone/>
            </a:pPr>
            <a:endParaRPr lang="en-GB" sz="2200" dirty="0"/>
          </a:p>
        </p:txBody>
      </p:sp>
      <p:sp>
        <p:nvSpPr>
          <p:cNvPr id="4" name="Down Arrow Callout 3"/>
          <p:cNvSpPr/>
          <p:nvPr/>
        </p:nvSpPr>
        <p:spPr>
          <a:xfrm>
            <a:off x="445770" y="2011680"/>
            <a:ext cx="8286750" cy="89154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49.53 g of MacConkey medium will be suspended into 1000 ml distilled water and heated</a:t>
            </a:r>
            <a:endParaRPr lang="en-GB" sz="2000" dirty="0"/>
          </a:p>
        </p:txBody>
      </p:sp>
      <p:sp>
        <p:nvSpPr>
          <p:cNvPr id="5" name="Down Arrow Callout 4"/>
          <p:cNvSpPr/>
          <p:nvPr/>
        </p:nvSpPr>
        <p:spPr>
          <a:xfrm>
            <a:off x="445770" y="3028950"/>
            <a:ext cx="8286750" cy="87630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sterilize by autoclaving at 15 </a:t>
            </a:r>
            <a:r>
              <a:rPr lang="en-US" sz="2000" dirty="0" err="1"/>
              <a:t>lbs</a:t>
            </a:r>
            <a:r>
              <a:rPr lang="en-US" sz="2000" dirty="0"/>
              <a:t> pressure (121 °C) for 15 minutes and then cooled to 45-50 °C</a:t>
            </a:r>
            <a:endParaRPr lang="en-GB" sz="2000" dirty="0"/>
          </a:p>
        </p:txBody>
      </p:sp>
      <p:sp>
        <p:nvSpPr>
          <p:cNvPr id="6" name="Down Arrow Callout 5"/>
          <p:cNvSpPr/>
          <p:nvPr/>
        </p:nvSpPr>
        <p:spPr>
          <a:xfrm>
            <a:off x="445770" y="4057650"/>
            <a:ext cx="8286750" cy="89916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sample will be serially diluted (10 folds) using 9 ml of sterile distilled water against 1ml of the sample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445770" y="5097780"/>
            <a:ext cx="8286750" cy="85725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19 ml of already prepared MacConkey will be poured into the petri-dishes, and  incubated at 35 °C for 24 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770" y="6080760"/>
            <a:ext cx="8286750" cy="617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Colonies of agar plates will be counted and expressed as colony forming units per mL (cfuml</a:t>
            </a:r>
            <a:r>
              <a:rPr lang="en-GB" sz="2000" baseline="30000" dirty="0"/>
              <a:t>-1</a:t>
            </a:r>
            <a:r>
              <a:rPr lang="en-GB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99778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948690"/>
            <a:ext cx="8743950" cy="5657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b="1" dirty="0"/>
              <a:t>Methodology Cont.</a:t>
            </a:r>
          </a:p>
          <a:p>
            <a:pPr marL="0" indent="0">
              <a:buNone/>
            </a:pPr>
            <a:r>
              <a:rPr lang="en-GB" b="1" dirty="0"/>
              <a:t>Algal Assessment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 algn="ctr">
              <a:buNone/>
            </a:pPr>
            <a:endParaRPr lang="en-GB" sz="2200" dirty="0"/>
          </a:p>
        </p:txBody>
      </p:sp>
      <p:sp>
        <p:nvSpPr>
          <p:cNvPr id="4" name="Down Arrow Callout 3"/>
          <p:cNvSpPr/>
          <p:nvPr/>
        </p:nvSpPr>
        <p:spPr>
          <a:xfrm>
            <a:off x="445770" y="2011680"/>
            <a:ext cx="8286750" cy="89154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65g of s</a:t>
            </a:r>
            <a:r>
              <a:rPr lang="en-GB" sz="2000" dirty="0" err="1"/>
              <a:t>abouraud</a:t>
            </a:r>
            <a:r>
              <a:rPr lang="en-GB" sz="2000" dirty="0"/>
              <a:t> </a:t>
            </a:r>
            <a:r>
              <a:rPr lang="en-US" sz="2000" dirty="0"/>
              <a:t>dextrose agar (SDA) will be suspended into 1000 ml distilled water and heated</a:t>
            </a:r>
            <a:endParaRPr lang="en-GB" sz="2000" dirty="0"/>
          </a:p>
        </p:txBody>
      </p:sp>
      <p:sp>
        <p:nvSpPr>
          <p:cNvPr id="5" name="Down Arrow Callout 4"/>
          <p:cNvSpPr/>
          <p:nvPr/>
        </p:nvSpPr>
        <p:spPr>
          <a:xfrm>
            <a:off x="445770" y="3028950"/>
            <a:ext cx="8286750" cy="87630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sterilize by autoclaving at 15 </a:t>
            </a:r>
            <a:r>
              <a:rPr lang="en-US" sz="2000" dirty="0" err="1"/>
              <a:t>lbs</a:t>
            </a:r>
            <a:r>
              <a:rPr lang="en-US" sz="2000" dirty="0"/>
              <a:t> pressure (121 °C) for 15 minutes and then cooled to 45-50 °C</a:t>
            </a:r>
            <a:endParaRPr lang="en-GB" sz="2000" dirty="0"/>
          </a:p>
        </p:txBody>
      </p:sp>
      <p:sp>
        <p:nvSpPr>
          <p:cNvPr id="6" name="Down Arrow Callout 5"/>
          <p:cNvSpPr/>
          <p:nvPr/>
        </p:nvSpPr>
        <p:spPr>
          <a:xfrm>
            <a:off x="445770" y="4057650"/>
            <a:ext cx="8286750" cy="89916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sample will be serially diluted (10 folds) using 9 ml of sterile distilled water against 1ml of the sample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445770" y="5097780"/>
            <a:ext cx="8286750" cy="857250"/>
          </a:xfrm>
          <a:prstGeom prst="downArrowCallou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19 ml of prepared SDA will be poured into the petri-dishes, and  incubated at 25-35 °C and examined twice a week, for 4-6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770" y="6080760"/>
            <a:ext cx="8286750" cy="617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Colonies of SDA will be counted and expressed as colony forming units per mL (cfuml</a:t>
            </a:r>
            <a:r>
              <a:rPr lang="en-GB" sz="2000" baseline="30000" dirty="0"/>
              <a:t>-1</a:t>
            </a:r>
            <a:r>
              <a:rPr lang="en-GB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2499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2" y="971550"/>
            <a:ext cx="8636000" cy="574928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600" b="1" dirty="0"/>
              <a:t>Materials &amp; methods Cont.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Isolation and Identification</a:t>
            </a:r>
          </a:p>
          <a:p>
            <a:pPr marL="0" indent="0">
              <a:buNone/>
            </a:pPr>
            <a:endParaRPr lang="en-GB" sz="2400" b="1" dirty="0"/>
          </a:p>
          <a:p>
            <a:r>
              <a:rPr lang="en-GB" b="1" dirty="0"/>
              <a:t>Test for Algal Assessment</a:t>
            </a:r>
            <a:endParaRPr lang="en-GB" dirty="0"/>
          </a:p>
          <a:p>
            <a:pPr marL="1165225"/>
            <a:r>
              <a:rPr lang="en-GB" sz="2400" dirty="0"/>
              <a:t>The colonial and morphological features of the fungal colonies will be elucidated using the compound microscope. </a:t>
            </a:r>
          </a:p>
          <a:p>
            <a:pPr marL="936625" indent="0">
              <a:buNone/>
            </a:pPr>
            <a:r>
              <a:rPr lang="en-GB" sz="2400" b="1" dirty="0"/>
              <a:t>    </a:t>
            </a:r>
          </a:p>
          <a:p>
            <a:pPr>
              <a:tabLst>
                <a:tab pos="2018665" algn="l"/>
              </a:tabLst>
            </a:pPr>
            <a:r>
              <a:rPr lang="en-GB" b="1" dirty="0"/>
              <a:t>Test for Bacterial Assessment</a:t>
            </a:r>
          </a:p>
          <a:p>
            <a:pPr marL="1165225"/>
            <a:r>
              <a:rPr lang="en-GB" sz="2400" dirty="0"/>
              <a:t>Colony morphology</a:t>
            </a:r>
          </a:p>
          <a:p>
            <a:pPr marL="1165225"/>
            <a:r>
              <a:rPr lang="en-GB" sz="2400" dirty="0"/>
              <a:t>Gram stain</a:t>
            </a:r>
          </a:p>
          <a:p>
            <a:pPr marL="1165225">
              <a:buNone/>
            </a:pPr>
            <a:r>
              <a:rPr lang="en-GB" sz="2400" dirty="0"/>
              <a:t>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971550"/>
            <a:ext cx="8705850" cy="4826004"/>
          </a:xfrm>
        </p:spPr>
        <p:txBody>
          <a:bodyPr/>
          <a:lstStyle/>
          <a:p>
            <a:pPr marL="0" indent="0" algn="ctr">
              <a:buNone/>
            </a:pPr>
            <a:r>
              <a:rPr lang="en-GB" sz="3600" b="1" dirty="0"/>
              <a:t>Materials &amp; methods Cont.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b="1" dirty="0"/>
              <a:t>Data Analysis</a:t>
            </a:r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dirty="0"/>
              <a:t>SPSS statistics software will be used for data processing and analysis</a:t>
            </a:r>
          </a:p>
          <a:p>
            <a:endParaRPr lang="en-GB" sz="2400" dirty="0"/>
          </a:p>
          <a:p>
            <a:r>
              <a:rPr lang="en-GB" sz="2400" dirty="0"/>
              <a:t>Chi square and t-test will be used to compare means of the number of viable colony counts in water samples with and without sun light exposure.</a:t>
            </a:r>
          </a:p>
          <a:p>
            <a:pPr marL="0" indent="0"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" y="937260"/>
            <a:ext cx="8881110" cy="580644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600" b="1" dirty="0"/>
              <a:t>References</a:t>
            </a:r>
          </a:p>
          <a:p>
            <a:pPr lvl="0"/>
            <a:r>
              <a:rPr lang="en-GB" sz="1800" dirty="0" err="1"/>
              <a:t>Herath</a:t>
            </a:r>
            <a:r>
              <a:rPr lang="en-GB" sz="1800" dirty="0"/>
              <a:t>, A., </a:t>
            </a:r>
            <a:r>
              <a:rPr lang="en-GB" sz="1800" dirty="0" err="1"/>
              <a:t>Abayasekara</a:t>
            </a:r>
            <a:r>
              <a:rPr lang="en-GB" sz="1800" dirty="0"/>
              <a:t>, C., </a:t>
            </a:r>
            <a:r>
              <a:rPr lang="en-GB" sz="1800" dirty="0" err="1"/>
              <a:t>Chandrajith</a:t>
            </a:r>
            <a:r>
              <a:rPr lang="en-GB" sz="1800" dirty="0"/>
              <a:t>, R. and </a:t>
            </a:r>
            <a:r>
              <a:rPr lang="en-GB" sz="1800" dirty="0" err="1"/>
              <a:t>Adikaram</a:t>
            </a:r>
            <a:r>
              <a:rPr lang="en-GB" sz="1800" dirty="0"/>
              <a:t>, N. (2012). Temporal Variation of Microbiological and Chemical Quality of Noncarbonated Bottled Drinking Water Sold in Sri Lanka. </a:t>
            </a:r>
            <a:r>
              <a:rPr lang="en-GB" sz="1800" i="1" dirty="0"/>
              <a:t>Journal of Food Science</a:t>
            </a:r>
            <a:r>
              <a:rPr lang="en-GB" sz="1800" dirty="0"/>
              <a:t>, 77(3), pp.M160-M164. DOI: 10.1111/j.1750-3841.2011.02588.x [Accessed: 11</a:t>
            </a:r>
            <a:r>
              <a:rPr lang="en-GB" sz="1800" baseline="30000" dirty="0"/>
              <a:t>th</a:t>
            </a:r>
            <a:r>
              <a:rPr lang="en-GB" sz="1800" dirty="0"/>
              <a:t> September 2019].</a:t>
            </a:r>
          </a:p>
          <a:p>
            <a:r>
              <a:rPr lang="en-GB" sz="1800" dirty="0" err="1"/>
              <a:t>Penland</a:t>
            </a:r>
            <a:r>
              <a:rPr lang="en-GB" sz="1800" dirty="0"/>
              <a:t>, R. L and </a:t>
            </a:r>
            <a:r>
              <a:rPr lang="en-GB" sz="1800" dirty="0" err="1"/>
              <a:t>Wilhelmus</a:t>
            </a:r>
            <a:r>
              <a:rPr lang="en-GB" sz="1800" dirty="0"/>
              <a:t>, K. R. (1999). Microbiologic analysis of bottled water: is it safe for use with contact lenses? </a:t>
            </a:r>
            <a:r>
              <a:rPr lang="en-GB" sz="1800" i="1" dirty="0"/>
              <a:t>Ophthalmology</a:t>
            </a:r>
            <a:r>
              <a:rPr lang="en-GB" sz="1800" dirty="0"/>
              <a:t> 106:1500–03. DOI: 10.1016/s0161-6420(99)90443-8 [Accessed: 11</a:t>
            </a:r>
            <a:r>
              <a:rPr lang="en-GB" sz="1800" baseline="30000" dirty="0"/>
              <a:t>th</a:t>
            </a:r>
            <a:r>
              <a:rPr lang="en-GB" sz="1800" dirty="0"/>
              <a:t> September 2019]. </a:t>
            </a:r>
            <a:endParaRPr lang="en-US" sz="1800" dirty="0"/>
          </a:p>
          <a:p>
            <a:pPr lvl="0"/>
            <a:r>
              <a:rPr lang="en-GB" sz="1800" dirty="0" err="1"/>
              <a:t>Sasikaran</a:t>
            </a:r>
            <a:r>
              <a:rPr lang="en-GB" sz="1800" dirty="0"/>
              <a:t>, S., </a:t>
            </a:r>
            <a:r>
              <a:rPr lang="en-GB" sz="1800" dirty="0" err="1"/>
              <a:t>Sritharan</a:t>
            </a:r>
            <a:r>
              <a:rPr lang="en-GB" sz="1800" dirty="0"/>
              <a:t>, K., </a:t>
            </a:r>
            <a:r>
              <a:rPr lang="en-GB" sz="1800" dirty="0" err="1"/>
              <a:t>Balakumar</a:t>
            </a:r>
            <a:r>
              <a:rPr lang="en-GB" sz="1800" dirty="0"/>
              <a:t>, S. and </a:t>
            </a:r>
            <a:r>
              <a:rPr lang="en-GB" sz="1800" dirty="0" err="1"/>
              <a:t>Arasaratnam</a:t>
            </a:r>
            <a:r>
              <a:rPr lang="en-GB" sz="1800" dirty="0"/>
              <a:t>, V. (2012). Physical, chemical and microbial analysis of bottled drinking water. </a:t>
            </a:r>
            <a:r>
              <a:rPr lang="en-GB" sz="1800" i="1" dirty="0"/>
              <a:t>Ceylon Medical Journal</a:t>
            </a:r>
            <a:r>
              <a:rPr lang="en-GB" sz="1800" dirty="0"/>
              <a:t>, 57(3), p.111. DOI: 10.4038/cmj.v57i3.4149 [Accessed: 26</a:t>
            </a:r>
            <a:r>
              <a:rPr lang="en-GB" sz="1800" baseline="30000" dirty="0"/>
              <a:t>th</a:t>
            </a:r>
            <a:r>
              <a:rPr lang="en-GB" sz="1800" dirty="0"/>
              <a:t> September 2019].</a:t>
            </a:r>
            <a:endParaRPr lang="en-US" sz="1800" dirty="0"/>
          </a:p>
          <a:p>
            <a:pPr lvl="0"/>
            <a:r>
              <a:rPr lang="en-GB" sz="1800" dirty="0"/>
              <a:t>Shams, M., </a:t>
            </a:r>
            <a:r>
              <a:rPr lang="en-GB" sz="1800" dirty="0" err="1"/>
              <a:t>Qasemi</a:t>
            </a:r>
            <a:r>
              <a:rPr lang="en-GB" sz="1800" dirty="0"/>
              <a:t>, M., </a:t>
            </a:r>
            <a:r>
              <a:rPr lang="en-GB" sz="1800" dirty="0" err="1"/>
              <a:t>Afsharnia</a:t>
            </a:r>
            <a:r>
              <a:rPr lang="en-GB" sz="1800" dirty="0"/>
              <a:t>, M., </a:t>
            </a:r>
            <a:r>
              <a:rPr lang="en-GB" sz="1800" dirty="0" err="1"/>
              <a:t>Mohammadzadeh</a:t>
            </a:r>
            <a:r>
              <a:rPr lang="en-GB" sz="1800" dirty="0"/>
              <a:t>, A. and </a:t>
            </a:r>
            <a:r>
              <a:rPr lang="en-GB" sz="1800" dirty="0" err="1"/>
              <a:t>Zarei</a:t>
            </a:r>
            <a:r>
              <a:rPr lang="en-GB" sz="1800" dirty="0"/>
              <a:t>, A. (2019). Chemical and microbial quality of bottled drinking water in </a:t>
            </a:r>
            <a:r>
              <a:rPr lang="en-GB" sz="1800" dirty="0" err="1"/>
              <a:t>Gonabad</a:t>
            </a:r>
            <a:r>
              <a:rPr lang="en-GB" sz="1800" dirty="0"/>
              <a:t> city, Iran: Effect of time and storage conditions on microbial quality of bottled waters. </a:t>
            </a:r>
            <a:r>
              <a:rPr lang="en-GB" sz="1800" i="1" dirty="0" err="1"/>
              <a:t>MethodsX</a:t>
            </a:r>
            <a:r>
              <a:rPr lang="en-GB" sz="1800" dirty="0"/>
              <a:t>, 6, pp.273-277. DOI: 10.1016/j.mex.2019.02.001 [</a:t>
            </a:r>
            <a:r>
              <a:rPr lang="en-GB" sz="1800" dirty="0" err="1"/>
              <a:t>Acessed</a:t>
            </a:r>
            <a:r>
              <a:rPr lang="en-GB" sz="1800" dirty="0"/>
              <a:t>: 26</a:t>
            </a:r>
            <a:r>
              <a:rPr lang="en-GB" sz="1800" baseline="30000" dirty="0"/>
              <a:t>th</a:t>
            </a:r>
            <a:r>
              <a:rPr lang="en-GB" sz="1800" dirty="0"/>
              <a:t> September 2019].</a:t>
            </a:r>
            <a:endParaRPr lang="en-US" sz="1800" dirty="0"/>
          </a:p>
          <a:p>
            <a:pPr lvl="0"/>
            <a:r>
              <a:rPr lang="en-GB" sz="1800" dirty="0" err="1"/>
              <a:t>Venkatesan</a:t>
            </a:r>
            <a:r>
              <a:rPr lang="en-GB" sz="1800" dirty="0"/>
              <a:t>, K., </a:t>
            </a:r>
            <a:r>
              <a:rPr lang="en-GB" sz="1800" dirty="0" err="1"/>
              <a:t>Balaji</a:t>
            </a:r>
            <a:r>
              <a:rPr lang="en-GB" sz="1800" dirty="0"/>
              <a:t>, M., and Victor, K. (2014). Microbiological analysis of       packaged drinking water sold in Chennai. </a:t>
            </a:r>
            <a:r>
              <a:rPr lang="en-GB" sz="1800" i="1" dirty="0"/>
              <a:t>International Journal of Medical Science and Public Health</a:t>
            </a:r>
            <a:r>
              <a:rPr lang="en-GB" sz="1800" dirty="0"/>
              <a:t>, 3(4), p.472. DOI: 10.5455/ijmsph.2014.150220143 [Accessed: 11</a:t>
            </a:r>
            <a:r>
              <a:rPr lang="en-GB" sz="1800" baseline="30000" dirty="0"/>
              <a:t>th</a:t>
            </a:r>
            <a:r>
              <a:rPr lang="en-GB" sz="1800" dirty="0"/>
              <a:t> September 2019].</a:t>
            </a:r>
            <a:endParaRPr lang="en-US" sz="1800" dirty="0"/>
          </a:p>
          <a:p>
            <a:pPr lvl="0"/>
            <a:r>
              <a:rPr lang="en-GB" sz="1800" dirty="0"/>
              <a:t>WHO. (2002). Guidelines for drinking water quality. 2</a:t>
            </a:r>
            <a:r>
              <a:rPr lang="en-GB" sz="1800" baseline="30000" dirty="0"/>
              <a:t>nd</a:t>
            </a:r>
            <a:r>
              <a:rPr lang="en-GB" sz="1800" dirty="0"/>
              <a:t> </a:t>
            </a:r>
            <a:r>
              <a:rPr lang="en-GB" sz="1800" dirty="0" err="1"/>
              <a:t>edn</a:t>
            </a:r>
            <a:r>
              <a:rPr lang="en-GB" sz="1800" dirty="0"/>
              <a:t>. Vol 1: Microbiological methods. Geneva: World Health Organization [Accessed: 11</a:t>
            </a:r>
            <a:r>
              <a:rPr lang="en-GB" sz="1800" baseline="30000" dirty="0"/>
              <a:t>th</a:t>
            </a:r>
            <a:r>
              <a:rPr lang="en-GB" sz="1800" dirty="0"/>
              <a:t> September 2019].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114300" indent="-114300"/>
            <a:endParaRPr lang="en-GB" sz="2200" dirty="0"/>
          </a:p>
          <a:p>
            <a:pPr marL="114300" indent="-114300"/>
            <a:endParaRPr lang="en-US" sz="2200" dirty="0"/>
          </a:p>
          <a:p>
            <a:pPr marL="0" indent="0">
              <a:buNone/>
            </a:pPr>
            <a:endParaRPr lang="en-GB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DFD5B2-369F-4D2D-B333-E3BC79D2297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577850" y="2930525"/>
            <a:ext cx="7335838" cy="132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1549</TotalTime>
  <Words>1390</Words>
  <Application>Microsoft Office PowerPoint</Application>
  <PresentationFormat>On-screen Show (4:3)</PresentationFormat>
  <Paragraphs>168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THE EFFECT OF SUNLIGHT EXPOSURE IN MICROBIAL QUALITY STANDARDS IN BOTTLED DRINKING WATER UNDER AMBIENT ENVIRONMENTAL CONDITIONS IN COLOMBO DIVISIONAL SECRETARAIT </vt:lpstr>
      <vt:lpstr>Contents: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SUNLIGHT EXPOSURE IN MICROBIAL QUALITY STANDARDS IN BOTTLED DRINKING WATER UNDER AMBIENT ENVIRONMENTAL CONDITIONS</dc:title>
  <dc:creator>Raida Sarooj</dc:creator>
  <cp:lastModifiedBy>M s u</cp:lastModifiedBy>
  <cp:revision>65</cp:revision>
  <dcterms:created xsi:type="dcterms:W3CDTF">2019-10-22T11:52:00Z</dcterms:created>
  <dcterms:modified xsi:type="dcterms:W3CDTF">2020-10-27T07:46:42Z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2057-11.2.0.8970</vt:lpwstr>
  </property>
</Properties>
</file>