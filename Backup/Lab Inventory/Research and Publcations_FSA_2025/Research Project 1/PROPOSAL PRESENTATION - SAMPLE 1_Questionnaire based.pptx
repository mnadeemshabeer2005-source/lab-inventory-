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5"/>
  </p:notesMasterIdLst>
  <p:sldIdLst>
    <p:sldId id="491" r:id="rId2"/>
    <p:sldId id="258" r:id="rId3"/>
    <p:sldId id="327" r:id="rId4"/>
    <p:sldId id="545" r:id="rId5"/>
    <p:sldId id="526" r:id="rId6"/>
    <p:sldId id="546" r:id="rId7"/>
    <p:sldId id="547" r:id="rId8"/>
    <p:sldId id="536" r:id="rId9"/>
    <p:sldId id="537" r:id="rId10"/>
    <p:sldId id="538" r:id="rId11"/>
    <p:sldId id="539" r:id="rId12"/>
    <p:sldId id="540" r:id="rId13"/>
    <p:sldId id="534" r:id="rId14"/>
    <p:sldId id="527" r:id="rId15"/>
    <p:sldId id="533" r:id="rId16"/>
    <p:sldId id="531" r:id="rId17"/>
    <p:sldId id="530" r:id="rId18"/>
    <p:sldId id="543" r:id="rId19"/>
    <p:sldId id="528" r:id="rId20"/>
    <p:sldId id="535" r:id="rId21"/>
    <p:sldId id="549" r:id="rId22"/>
    <p:sldId id="541" r:id="rId23"/>
    <p:sldId id="429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  <a:srgbClr val="FFCC99"/>
    <a:srgbClr val="969696"/>
    <a:srgbClr val="FFFF66"/>
    <a:srgbClr val="CCCCFF"/>
    <a:srgbClr val="FFCC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6" autoAdjust="0"/>
    <p:restoredTop sz="90586" autoAdjust="0"/>
  </p:normalViewPr>
  <p:slideViewPr>
    <p:cSldViewPr>
      <p:cViewPr varScale="1">
        <p:scale>
          <a:sx n="60" d="100"/>
          <a:sy n="60" d="100"/>
        </p:scale>
        <p:origin x="1229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202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8891AB1A-AE14-41DD-85F6-69CFFDB7C3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0861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91AB1A-AE14-41DD-85F6-69CFFDB7C346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647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C0C216-AA49-4683-8445-A6B8095B049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65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6DF3B-9506-4B9E-94DB-F2868B3B5B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59967-6988-4716-8A83-B1ECAB1530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A4A234-75E1-4CF6-ADD8-74EE0855702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BBA77-4966-4731-821B-AE4184C143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664B0-41DE-49AA-898E-86BAF965BD1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727711-76F3-4CA3-BDDB-470A7E0C89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905AB-8A26-4EDF-B81D-6B97D3A4FB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48E8A-FD1A-4CD3-B5B0-C422E8B9AA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475519-DF0E-4541-ADFB-84856E27A6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1448C-B46C-49C1-98E2-A644C1BA76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041528-3181-4C70-86A5-6A24D07329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A8E9AA-9D9C-4E54-8382-C0792CA2DE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0" descr="MSU Flower - half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35300" y="0"/>
            <a:ext cx="61087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16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pPr>
              <a:defRPr/>
            </a:pPr>
            <a:fld id="{030D897E-D68A-4D3A-A70D-A84C0BBEFE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2054" name="Picture 8" descr="MSU Logo2"/>
          <p:cNvPicPr>
            <a:picLocks noChangeAspect="1" noChangeArrowheads="1"/>
          </p:cNvPicPr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193675" y="165100"/>
            <a:ext cx="2073275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9" descr="Uni of Choice"/>
          <p:cNvPicPr>
            <a:picLocks noChangeAspect="1" noChangeArrowheads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91300" y="0"/>
            <a:ext cx="2552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8" r:id="rId2"/>
    <p:sldLayoutId id="2147483667" r:id="rId3"/>
    <p:sldLayoutId id="2147483666" r:id="rId4"/>
    <p:sldLayoutId id="2147483665" r:id="rId5"/>
    <p:sldLayoutId id="2147483664" r:id="rId6"/>
    <p:sldLayoutId id="2147483663" r:id="rId7"/>
    <p:sldLayoutId id="2147483662" r:id="rId8"/>
    <p:sldLayoutId id="2147483661" r:id="rId9"/>
    <p:sldLayoutId id="2147483660" r:id="rId10"/>
    <p:sldLayoutId id="2147483659" r:id="rId11"/>
    <p:sldLayoutId id="2147483658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3337-017-0390-8" TargetMode="External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801CE-A065-4546-A807-F40FA44F0C85}" type="slidenum">
              <a:rPr lang="en-US"/>
              <a:pPr/>
              <a:t>1</a:t>
            </a:fld>
            <a:endParaRPr lang="en-US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304800" y="1981200"/>
            <a:ext cx="8534400" cy="1676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  <a:ea typeface="Arial Unicode MS" pitchFamily="34" charset="-128"/>
                <a:cs typeface="Calibri" pitchFamily="34" charset="0"/>
              </a:rPr>
              <a:t>                  </a:t>
            </a:r>
          </a:p>
          <a:p>
            <a:pPr algn="ctr"/>
            <a:r>
              <a:rPr lang="en-US" sz="2800" dirty="0">
                <a:latin typeface="Calibri" pitchFamily="34" charset="0"/>
                <a:cs typeface="Calibri" pitchFamily="34" charset="0"/>
              </a:rPr>
              <a:t>KNOWLEDGE AND PRACTISES REGARDING H1N1 INFLUENZA </a:t>
            </a:r>
          </a:p>
          <a:p>
            <a:pPr algn="ctr"/>
            <a:r>
              <a:rPr lang="en-US" sz="2800" dirty="0">
                <a:latin typeface="Calibri" pitchFamily="34" charset="0"/>
                <a:cs typeface="Calibri" pitchFamily="34" charset="0"/>
              </a:rPr>
              <a:t>AMONG PREGNANT MOTHERS ATTENDING POLY CLINICS </a:t>
            </a:r>
          </a:p>
          <a:p>
            <a:pPr algn="ctr"/>
            <a:r>
              <a:rPr lang="en-US" sz="2800" dirty="0">
                <a:latin typeface="Calibri" pitchFamily="34" charset="0"/>
                <a:cs typeface="Calibri" pitchFamily="34" charset="0"/>
              </a:rPr>
              <a:t>IN CHILAW MOH AREA</a:t>
            </a:r>
          </a:p>
          <a:p>
            <a:pPr algn="ctr"/>
            <a:endParaRPr lang="en-US" sz="3600" dirty="0"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  <a:ea typeface="Arial Unicode MS" pitchFamily="34" charset="-128"/>
              <a:cs typeface="Calibri" pitchFamily="34" charset="0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447800" y="4876800"/>
            <a:ext cx="6477000" cy="838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Arial Unicode MS" pitchFamily="34" charset="-128"/>
                <a:cs typeface="Calibri" pitchFamily="34" charset="0"/>
              </a:rPr>
              <a:t>W.SANKA DILSHAN FERNANDO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Matrix Number: 072019070002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Arial Unicode MS" pitchFamily="34" charset="-128"/>
              <a:cs typeface="Calibri" pitchFamily="34" charset="0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Calibri" pitchFamily="34" charset="0"/>
                <a:ea typeface="Arial Unicode MS" pitchFamily="34" charset="-128"/>
                <a:cs typeface="Calibri" pitchFamily="34" charset="0"/>
              </a:rPr>
              <a:t>Faculty of Life and  &amp; Health sciences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Calibri" pitchFamily="34" charset="0"/>
                <a:ea typeface="Arial Unicode MS" pitchFamily="34" charset="-128"/>
                <a:cs typeface="Calibri" pitchFamily="34" charset="0"/>
              </a:rPr>
              <a:t>Management and Science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Calibri" pitchFamily="34" charset="0"/>
                <a:ea typeface="Arial Unicode MS" pitchFamily="34" charset="-128"/>
                <a:cs typeface="Calibri" pitchFamily="34" charset="0"/>
              </a:rPr>
              <a:t>University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023ABB8-C2C8-4206-9494-8BA308EE747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1650" y="1212132"/>
            <a:ext cx="8229600" cy="69286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Contents: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DF775E-35AC-498A-ABA0-002C0478B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05" y="2347884"/>
            <a:ext cx="7583488" cy="3175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400" b="0" kern="0" dirty="0">
                <a:latin typeface="Calibri" panose="020F0502020204030204" pitchFamily="34" charset="0"/>
                <a:cs typeface="Calibri" panose="020F0502020204030204" pitchFamily="34" charset="0"/>
              </a:rPr>
              <a:t>Chapter 1 - Introduction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400" b="0" kern="0" dirty="0">
                <a:latin typeface="Calibri" panose="020F0502020204030204" pitchFamily="34" charset="0"/>
                <a:cs typeface="Calibri" panose="020F0502020204030204" pitchFamily="34" charset="0"/>
              </a:rPr>
              <a:t>Chapter 2 - Research Methodology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400" b="0" kern="0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  <a:p>
            <a:pPr eaLnBrk="1" hangingPunct="1">
              <a:buFontTx/>
              <a:buNone/>
            </a:pPr>
            <a:endParaRPr lang="en-US" sz="24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E54BD9D-7ACE-40A0-9A95-CF5001C8A79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7450" y="2126916"/>
            <a:ext cx="8680450" cy="4583112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Background of the study</a:t>
            </a:r>
          </a:p>
          <a:p>
            <a:pPr marL="0" indent="0">
              <a:buNone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Justification </a:t>
            </a:r>
          </a:p>
          <a:p>
            <a:pPr marL="0" indent="0">
              <a:buNone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Research Objectives </a:t>
            </a:r>
          </a:p>
          <a:p>
            <a:pPr marL="0" indent="0">
              <a:buNone/>
              <a:defRPr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Significance of the study</a:t>
            </a:r>
          </a:p>
          <a:p>
            <a:pPr marL="0" indent="0">
              <a:buNone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Limitation of the study</a:t>
            </a:r>
          </a:p>
          <a:p>
            <a:pPr marL="0" indent="0">
              <a:buNone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855663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3600" dirty="0">
                <a:latin typeface="Arial" pitchFamily="34" charset="0"/>
              </a:rPr>
              <a:t>Chapter 1 - Introduction</a:t>
            </a:r>
            <a:endParaRPr lang="en-US" sz="3600" b="0" kern="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7237"/>
            <a:ext cx="8229600" cy="4525963"/>
          </a:xfrm>
        </p:spPr>
        <p:txBody>
          <a:bodyPr/>
          <a:lstStyle/>
          <a:p>
            <a:pPr algn="just"/>
            <a:r>
              <a:rPr lang="en-US" sz="2400" dirty="0">
                <a:latin typeface="Calibri" pitchFamily="34" charset="0"/>
                <a:cs typeface="Calibri" pitchFamily="34" charset="0"/>
              </a:rPr>
              <a:t>H1N1 - orthomyxovirus </a:t>
            </a:r>
          </a:p>
          <a:p>
            <a:pPr algn="just"/>
            <a:r>
              <a:rPr lang="en-US" sz="2400" dirty="0">
                <a:latin typeface="Calibri" pitchFamily="34" charset="0"/>
                <a:cs typeface="Calibri" pitchFamily="34" charset="0"/>
              </a:rPr>
              <a:t>H1N1 virus results - non-febrile, mild upper respiratory tract infection to severe or fatal pneumonia</a:t>
            </a:r>
          </a:p>
          <a:p>
            <a:pPr algn="just"/>
            <a:r>
              <a:rPr lang="en-US" sz="2400" dirty="0">
                <a:latin typeface="Calibri" pitchFamily="34" charset="0"/>
                <a:cs typeface="Calibri" pitchFamily="34" charset="0"/>
              </a:rPr>
              <a:t>Symptoms - sudden fever (typically &gt;38 °C) vomiting, and/or diarrhea, runny nose, cough, fever, sore throat and headache can also be there (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Fujardo-dolci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>
                <a:latin typeface="Calibri" pitchFamily="34" charset="0"/>
                <a:cs typeface="Calibri" pitchFamily="34" charset="0"/>
              </a:rPr>
              <a:t>et al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., 2012)</a:t>
            </a:r>
          </a:p>
          <a:p>
            <a:pPr algn="just"/>
            <a:r>
              <a:rPr lang="en-US" sz="2400" dirty="0">
                <a:latin typeface="Calibri" pitchFamily="34" charset="0"/>
                <a:cs typeface="Calibri" pitchFamily="34" charset="0"/>
              </a:rPr>
              <a:t>High risk groups -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pregnant women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, infants and young children &lt;2 years of age (WHO, 2010)</a:t>
            </a:r>
            <a:endParaRPr lang="en-US" sz="2400" dirty="0">
              <a:latin typeface="Calibri" pitchFamily="34" charset="0"/>
              <a:ea typeface="Arial Unicode MS" pitchFamily="34" charset="-128"/>
              <a:cs typeface="Calibri" pitchFamily="34" charset="0"/>
            </a:endParaRPr>
          </a:p>
          <a:p>
            <a:pPr lvl="0"/>
            <a:endParaRPr lang="en-US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5688212"/>
            <a:ext cx="3200400" cy="109180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FB0918A-2C4B-4F5A-8B8E-80702EA2470D}"/>
              </a:ext>
            </a:extLst>
          </p:cNvPr>
          <p:cNvSpPr txBox="1">
            <a:spLocks/>
          </p:cNvSpPr>
          <p:nvPr/>
        </p:nvSpPr>
        <p:spPr>
          <a:xfrm>
            <a:off x="457200" y="733425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2800" dirty="0">
                <a:latin typeface="Arial" pitchFamily="34" charset="0"/>
              </a:rPr>
              <a:t>Chapter 1 - Introduction</a:t>
            </a:r>
            <a:endParaRPr lang="en-US" sz="2800" b="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ACA7B6-8C33-4126-994B-1BB0CBA2BBEA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3600" dirty="0">
                <a:latin typeface="Calibri" pitchFamily="34" charset="0"/>
                <a:cs typeface="Calibri" pitchFamily="34" charset="0"/>
              </a:rPr>
              <a:t>Background of the Study</a:t>
            </a:r>
            <a:endParaRPr lang="en-US" sz="3600" b="0" kern="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7722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In Thailand </a:t>
            </a:r>
          </a:p>
          <a:p>
            <a:pPr lvl="1"/>
            <a:r>
              <a:rPr lang="en-US" sz="2200" dirty="0">
                <a:latin typeface="Calibri" pitchFamily="34" charset="0"/>
                <a:cs typeface="Calibri" pitchFamily="34" charset="0"/>
              </a:rPr>
              <a:t>39% of pregnant women had never heard of the influenza</a:t>
            </a:r>
            <a:r>
              <a:rPr lang="en-US" sz="2200" b="1" dirty="0">
                <a:latin typeface="Calibri" pitchFamily="34" charset="0"/>
                <a:cs typeface="Calibri" pitchFamily="34" charset="0"/>
              </a:rPr>
              <a:t>  </a:t>
            </a:r>
            <a:r>
              <a:rPr lang="en-US" sz="22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sz="2200" dirty="0" err="1">
                <a:latin typeface="Calibri" pitchFamily="34" charset="0"/>
                <a:cs typeface="Calibri" pitchFamily="34" charset="0"/>
              </a:rPr>
              <a:t>Ditsungnoen</a:t>
            </a:r>
            <a:r>
              <a:rPr lang="en-US" sz="2200" dirty="0">
                <a:latin typeface="Calibri" pitchFamily="34" charset="0"/>
                <a:cs typeface="Calibri" pitchFamily="34" charset="0"/>
              </a:rPr>
              <a:t> et al., 2016)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In South Africa </a:t>
            </a:r>
          </a:p>
          <a:p>
            <a:pPr lvl="1"/>
            <a:r>
              <a:rPr lang="en-US" sz="2200" dirty="0">
                <a:latin typeface="Calibri" pitchFamily="34" charset="0"/>
                <a:cs typeface="Calibri" pitchFamily="34" charset="0"/>
              </a:rPr>
              <a:t>55.5% believed that influenza is the same as common cold</a:t>
            </a:r>
          </a:p>
          <a:p>
            <a:pPr lvl="1"/>
            <a:r>
              <a:rPr lang="en-US" sz="2200" dirty="0">
                <a:latin typeface="Calibri" pitchFamily="34" charset="0"/>
                <a:cs typeface="Calibri" pitchFamily="34" charset="0"/>
              </a:rPr>
              <a:t>57.2%. participants had heard of the vaccine to prevent influenza. (</a:t>
            </a:r>
            <a:r>
              <a:rPr lang="en-US" sz="2200" dirty="0" err="1">
                <a:latin typeface="Calibri" pitchFamily="34" charset="0"/>
                <a:cs typeface="Calibri" pitchFamily="34" charset="0"/>
              </a:rPr>
              <a:t>Olatunbosun</a:t>
            </a:r>
            <a:r>
              <a:rPr lang="en-US" sz="22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200" dirty="0" err="1">
                <a:latin typeface="Calibri" pitchFamily="34" charset="0"/>
                <a:cs typeface="Calibri" pitchFamily="34" charset="0"/>
              </a:rPr>
              <a:t>Esterhuizen</a:t>
            </a:r>
            <a:r>
              <a:rPr lang="en-US" sz="2200" dirty="0">
                <a:latin typeface="Calibri" pitchFamily="34" charset="0"/>
                <a:cs typeface="Calibri" pitchFamily="34" charset="0"/>
              </a:rPr>
              <a:t> and </a:t>
            </a:r>
            <a:r>
              <a:rPr lang="en-US" sz="2200" dirty="0" err="1">
                <a:latin typeface="Calibri" pitchFamily="34" charset="0"/>
                <a:cs typeface="Calibri" pitchFamily="34" charset="0"/>
              </a:rPr>
              <a:t>Wiysonge</a:t>
            </a:r>
            <a:r>
              <a:rPr lang="en-US" sz="2200" dirty="0">
                <a:latin typeface="Calibri" pitchFamily="34" charset="0"/>
                <a:cs typeface="Calibri" pitchFamily="34" charset="0"/>
              </a:rPr>
              <a:t>, 2017)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In Eastern china</a:t>
            </a:r>
          </a:p>
          <a:p>
            <a:pPr lvl="1"/>
            <a:r>
              <a:rPr lang="en-US" sz="2200" dirty="0">
                <a:latin typeface="Calibri" pitchFamily="34" charset="0"/>
                <a:cs typeface="Calibri" pitchFamily="34" charset="0"/>
              </a:rPr>
              <a:t>One in five older adults was aware of the influenza virus (21%) or vaccine (20%); (</a:t>
            </a:r>
            <a:r>
              <a:rPr lang="en-US" sz="2200" dirty="0" err="1">
                <a:latin typeface="Calibri" pitchFamily="34" charset="0"/>
                <a:cs typeface="Calibri" pitchFamily="34" charset="0"/>
              </a:rPr>
              <a:t>Wendlandt</a:t>
            </a:r>
            <a:r>
              <a:rPr lang="en-US" sz="2200" dirty="0">
                <a:latin typeface="Calibri" pitchFamily="34" charset="0"/>
                <a:cs typeface="Calibri" pitchFamily="34" charset="0"/>
              </a:rPr>
              <a:t> et al., 2018)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endParaRPr lang="en-US" sz="24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9F88B09-345A-4622-8F9F-0367777EE52B}"/>
              </a:ext>
            </a:extLst>
          </p:cNvPr>
          <p:cNvSpPr txBox="1">
            <a:spLocks/>
          </p:cNvSpPr>
          <p:nvPr/>
        </p:nvSpPr>
        <p:spPr>
          <a:xfrm>
            <a:off x="457200" y="733425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2800" dirty="0">
                <a:latin typeface="Arial" pitchFamily="34" charset="0"/>
              </a:rPr>
              <a:t>Chapter 1 - Introduction</a:t>
            </a:r>
            <a:endParaRPr lang="en-US" sz="2800" b="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17563AE-4FE5-4889-BD59-C68564E7D59D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3600" dirty="0">
                <a:latin typeface="Calibri" pitchFamily="34" charset="0"/>
                <a:cs typeface="Calibri" pitchFamily="34" charset="0"/>
              </a:rPr>
              <a:t>Background of the Study</a:t>
            </a:r>
            <a:endParaRPr lang="en-US" sz="3600" b="0" kern="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7387"/>
            <a:ext cx="8229600" cy="4525963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As pregnant women are at increased risk for severe disease and has a potential in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spontaneous abortion or death</a:t>
            </a:r>
          </a:p>
          <a:p>
            <a:pPr algn="just">
              <a:lnSpc>
                <a:spcPct val="9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 Up to 3</a:t>
            </a:r>
            <a:r>
              <a:rPr lang="en-US" sz="2400" baseline="30000" dirty="0">
                <a:latin typeface="Calibri" pitchFamily="34" charset="0"/>
                <a:cs typeface="Calibri" pitchFamily="34" charset="0"/>
              </a:rPr>
              <a:t>rd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week of May 2015, reported and confirmed 252 H1N1 cases with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six deaths among pregnant women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(Seasonal Influenza report 2015)</a:t>
            </a:r>
          </a:p>
          <a:p>
            <a:pPr algn="just">
              <a:lnSpc>
                <a:spcPct val="9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Influenza A (H1N1) vaccine, not been established in clinical trials in pregnant women yet in Sri Lanka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Two peaks in Sri Lanka for influenza </a:t>
            </a:r>
          </a:p>
          <a:p>
            <a:pPr marL="1200150" lvl="2" indent="-342900">
              <a:lnSpc>
                <a:spcPct val="90000"/>
              </a:lnSpc>
            </a:pPr>
            <a:r>
              <a:rPr lang="en-US" sz="2200" dirty="0">
                <a:latin typeface="Calibri" pitchFamily="34" charset="0"/>
                <a:cs typeface="Calibri" pitchFamily="34" charset="0"/>
              </a:rPr>
              <a:t>May/June/July </a:t>
            </a:r>
          </a:p>
          <a:p>
            <a:pPr marL="1200150" lvl="2" indent="-342900">
              <a:lnSpc>
                <a:spcPct val="90000"/>
              </a:lnSpc>
            </a:pPr>
            <a:r>
              <a:rPr lang="en-US" sz="2200" dirty="0">
                <a:latin typeface="Calibri" pitchFamily="34" charset="0"/>
                <a:cs typeface="Calibri" pitchFamily="34" charset="0"/>
              </a:rPr>
              <a:t>November/December and January 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sz="2200" dirty="0">
                <a:latin typeface="Calibri" pitchFamily="34" charset="0"/>
                <a:cs typeface="Calibri" pitchFamily="34" charset="0"/>
              </a:rPr>
              <a:t>      (Seasonal Influenza report 2015)</a:t>
            </a:r>
            <a:endParaRPr lang="en-US" sz="2200" dirty="0">
              <a:latin typeface="Calibri" pitchFamily="34" charset="0"/>
              <a:ea typeface="Arial Unicode MS" pitchFamily="34" charset="-128"/>
              <a:cs typeface="Calibri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2977755-99CF-468C-AD63-4AFBAE695CFE}"/>
              </a:ext>
            </a:extLst>
          </p:cNvPr>
          <p:cNvSpPr txBox="1">
            <a:spLocks/>
          </p:cNvSpPr>
          <p:nvPr/>
        </p:nvSpPr>
        <p:spPr>
          <a:xfrm>
            <a:off x="457200" y="733425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2800" dirty="0">
                <a:latin typeface="Arial" pitchFamily="34" charset="0"/>
              </a:rPr>
              <a:t>Chapter 1 - Introduction</a:t>
            </a:r>
            <a:endParaRPr lang="en-US" sz="2800" b="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F01CCFA-1498-4173-894A-EF5A27320772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3600" dirty="0">
                <a:latin typeface="Calibri" pitchFamily="34" charset="0"/>
                <a:cs typeface="Calibri" pitchFamily="34" charset="0"/>
              </a:rPr>
              <a:t>Justification</a:t>
            </a:r>
            <a:endParaRPr lang="en-US" sz="3600" b="0" kern="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6825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/>
          <a:lstStyle/>
          <a:p>
            <a:r>
              <a:rPr lang="en-US" sz="3600" dirty="0">
                <a:latin typeface="Calibri" pitchFamily="34" charset="0"/>
                <a:cs typeface="Calibri" pitchFamily="34" charset="0"/>
              </a:rPr>
              <a:t> </a:t>
            </a:r>
            <a:br>
              <a:rPr lang="en-US" sz="3600" dirty="0">
                <a:latin typeface="Calibri" pitchFamily="34" charset="0"/>
                <a:cs typeface="Calibri" pitchFamily="34" charset="0"/>
              </a:rPr>
            </a:br>
            <a:r>
              <a:rPr lang="en-US" sz="2400" dirty="0">
                <a:latin typeface="Calibri" pitchFamily="34" charset="0"/>
                <a:cs typeface="Calibri" pitchFamily="34" charset="0"/>
              </a:rPr>
              <a:t>History and current trends in influenza virus infections with special reference to Sri Lanka</a:t>
            </a:r>
            <a:br>
              <a:rPr lang="en-US" sz="3600" dirty="0">
                <a:latin typeface="Calibri" pitchFamily="34" charset="0"/>
                <a:cs typeface="Calibri" pitchFamily="34" charset="0"/>
              </a:rPr>
            </a:br>
            <a:br>
              <a:rPr lang="en-US" sz="3600" dirty="0">
                <a:latin typeface="Calibri" pitchFamily="34" charset="0"/>
                <a:cs typeface="Calibri" pitchFamily="34" charset="0"/>
              </a:rPr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428743"/>
            <a:ext cx="5985688" cy="33406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 5"/>
          <p:cNvSpPr/>
          <p:nvPr/>
        </p:nvSpPr>
        <p:spPr>
          <a:xfrm rot="10800000" flipV="1">
            <a:off x="558800" y="6248400"/>
            <a:ext cx="7315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  <a:hlinkClick r:id="rId3"/>
              </a:rPr>
              <a:t>https://</a:t>
            </a:r>
            <a:r>
              <a:rPr lang="en-US" i="1" dirty="0">
                <a:latin typeface="Calibri" pitchFamily="34" charset="0"/>
                <a:cs typeface="Calibri" pitchFamily="34" charset="0"/>
                <a:hlinkClick r:id="rId3"/>
              </a:rPr>
              <a:t>link.springer.com/article/10.1007/s13337-017-0390-8</a:t>
            </a:r>
            <a:endParaRPr lang="en-US" i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F077DC8-A689-4453-A70E-81145DACB15A}"/>
              </a:ext>
            </a:extLst>
          </p:cNvPr>
          <p:cNvSpPr txBox="1">
            <a:spLocks/>
          </p:cNvSpPr>
          <p:nvPr/>
        </p:nvSpPr>
        <p:spPr>
          <a:xfrm>
            <a:off x="457200" y="394771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br>
              <a:rPr lang="en-US" sz="3600" b="1" kern="0" dirty="0">
                <a:latin typeface="Calibri" pitchFamily="34" charset="0"/>
                <a:cs typeface="Calibri" pitchFamily="34" charset="0"/>
              </a:rPr>
            </a:br>
            <a:r>
              <a:rPr lang="en-US" sz="3600" b="1" kern="0" dirty="0">
                <a:latin typeface="Calibri" pitchFamily="34" charset="0"/>
                <a:cs typeface="Calibri" pitchFamily="34" charset="0"/>
              </a:rPr>
              <a:t>Justification cont.</a:t>
            </a:r>
            <a:endParaRPr lang="en-US" sz="3600" b="0" kern="0" dirty="0"/>
          </a:p>
        </p:txBody>
      </p:sp>
    </p:spTree>
    <p:extLst>
      <p:ext uri="{BB962C8B-B14F-4D97-AF65-F5344CB8AC3E}">
        <p14:creationId xmlns:p14="http://schemas.microsoft.com/office/powerpoint/2010/main" val="95652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9287"/>
            <a:ext cx="8229600" cy="4525963"/>
          </a:xfrm>
        </p:spPr>
        <p:txBody>
          <a:bodyPr/>
          <a:lstStyle/>
          <a:p>
            <a:pPr lvl="0"/>
            <a:r>
              <a:rPr lang="en-US" sz="2400" dirty="0">
                <a:latin typeface="Calibri" pitchFamily="34" charset="0"/>
                <a:cs typeface="Calibri" pitchFamily="34" charset="0"/>
              </a:rPr>
              <a:t>To provide an idea about the topic to Public Health Sector </a:t>
            </a:r>
          </a:p>
          <a:p>
            <a:pPr lvl="0"/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The findings of this study will aid medical officers, health administrators and health policy planners to build upon health education programs on influenza 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There is no immediate benefit to participants of this study; however, answering the questionnaire may create interest among participants to be knowledgeable about this field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3703B4-C870-476E-891E-B65193EA0D30}"/>
              </a:ext>
            </a:extLst>
          </p:cNvPr>
          <p:cNvSpPr txBox="1">
            <a:spLocks/>
          </p:cNvSpPr>
          <p:nvPr/>
        </p:nvSpPr>
        <p:spPr>
          <a:xfrm>
            <a:off x="457200" y="733425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2800" dirty="0">
                <a:latin typeface="Arial" pitchFamily="34" charset="0"/>
              </a:rPr>
              <a:t>Chapter 1 - Introduction</a:t>
            </a:r>
            <a:endParaRPr lang="en-US" sz="2800" b="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EA164D-872A-4A8D-86A9-6DADB6BA0D20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3600" dirty="0">
                <a:latin typeface="Calibri" pitchFamily="34" charset="0"/>
                <a:ea typeface="Arial Unicode MS" pitchFamily="34" charset="-128"/>
                <a:cs typeface="Calibri" pitchFamily="34" charset="0"/>
              </a:rPr>
              <a:t>Significance of the Study</a:t>
            </a:r>
            <a:endParaRPr lang="en-US" sz="3600" b="0" kern="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202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4837"/>
            <a:ext cx="8229600" cy="4525963"/>
          </a:xfrm>
        </p:spPr>
        <p:txBody>
          <a:bodyPr/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Focus is only pregnant mothers who attend to the polyclinics in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Chilaw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MOH area 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Depend on responder, might provide socially desirable answers 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Designing the questions will also influence its results and conclusions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3C3BC3-7A0D-4C52-8838-20E52408AEA6}"/>
              </a:ext>
            </a:extLst>
          </p:cNvPr>
          <p:cNvSpPr txBox="1">
            <a:spLocks/>
          </p:cNvSpPr>
          <p:nvPr/>
        </p:nvSpPr>
        <p:spPr>
          <a:xfrm>
            <a:off x="457200" y="733425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2800" dirty="0">
                <a:latin typeface="Arial" pitchFamily="34" charset="0"/>
              </a:rPr>
              <a:t>Chapter 1 - Introduction</a:t>
            </a:r>
            <a:endParaRPr lang="en-US" sz="2800" b="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5D9656-28C6-4371-A86F-01ABC3E05343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3600" dirty="0">
                <a:latin typeface="Calibri" pitchFamily="34" charset="0"/>
                <a:cs typeface="Calibri" pitchFamily="34" charset="0"/>
              </a:rPr>
              <a:t>Limitations of the study</a:t>
            </a:r>
            <a:endParaRPr lang="en-US" sz="3600" b="0" kern="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3656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723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Arial Unicode MS" pitchFamily="34" charset="-128"/>
                <a:cs typeface="Calibri" pitchFamily="34" charset="0"/>
              </a:rPr>
              <a:t>General Objective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To determine the knowledge and practices regarding H1N1 Influenza among pregnant mothers attending polyclinics in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Chilaw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MOH area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733176"/>
            <a:ext cx="3390900" cy="1352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DA6EAA1-BA03-42DB-8DF2-9255C41F831B}"/>
              </a:ext>
            </a:extLst>
          </p:cNvPr>
          <p:cNvSpPr txBox="1">
            <a:spLocks/>
          </p:cNvSpPr>
          <p:nvPr/>
        </p:nvSpPr>
        <p:spPr>
          <a:xfrm>
            <a:off x="457200" y="733425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2800" dirty="0">
                <a:latin typeface="Arial" pitchFamily="34" charset="0"/>
              </a:rPr>
              <a:t>Chapter 1 - Introduction</a:t>
            </a:r>
            <a:endParaRPr lang="en-US" sz="2800" b="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02B5D7-A20C-4DDC-AF98-69088691EF06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3600" dirty="0">
                <a:latin typeface="Calibri" pitchFamily="34" charset="0"/>
                <a:ea typeface="Arial Unicode MS" pitchFamily="34" charset="-128"/>
                <a:cs typeface="Calibri" pitchFamily="34" charset="0"/>
              </a:rPr>
              <a:t>Objectives of the Study</a:t>
            </a:r>
            <a:endParaRPr lang="en-US" sz="3600" b="0" kern="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6123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525963"/>
          </a:xfrm>
        </p:spPr>
        <p:txBody>
          <a:bodyPr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2800" b="1" dirty="0">
                <a:latin typeface="Calibri" pitchFamily="34" charset="0"/>
                <a:ea typeface="Arial Unicode MS" pitchFamily="34" charset="-128"/>
                <a:cs typeface="Calibri" pitchFamily="34" charset="0"/>
              </a:rPr>
              <a:t>Specific Objectives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To access the knowledge</a:t>
            </a:r>
          </a:p>
          <a:p>
            <a:pPr lvl="0"/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To determine the practices</a:t>
            </a:r>
          </a:p>
          <a:p>
            <a:pPr lvl="0"/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To assess factors associated with knowledge and practices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38CF3B-4CB6-4354-9366-AE349FD8DD78}"/>
              </a:ext>
            </a:extLst>
          </p:cNvPr>
          <p:cNvSpPr txBox="1">
            <a:spLocks/>
          </p:cNvSpPr>
          <p:nvPr/>
        </p:nvSpPr>
        <p:spPr>
          <a:xfrm>
            <a:off x="457200" y="733425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2800" dirty="0">
                <a:latin typeface="Arial" pitchFamily="34" charset="0"/>
              </a:rPr>
              <a:t>Chapter 1 - Introduction</a:t>
            </a:r>
            <a:endParaRPr lang="en-US" sz="2800" b="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48C7BBD-D9D2-4868-8A41-CA6BE4969A8D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3600" dirty="0">
                <a:latin typeface="Calibri" pitchFamily="34" charset="0"/>
                <a:ea typeface="Arial Unicode MS" pitchFamily="34" charset="-128"/>
                <a:cs typeface="Calibri" pitchFamily="34" charset="0"/>
              </a:rPr>
              <a:t>Objectives of the Study</a:t>
            </a:r>
            <a:endParaRPr lang="en-US" sz="3600" b="0" kern="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5868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513" y="216673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cs typeface="Calibri" pitchFamily="34" charset="0"/>
              </a:rPr>
              <a:t>Study design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A descriptive cross-sectional study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sz="2800" b="1" dirty="0">
                <a:latin typeface="Calibri" pitchFamily="34" charset="0"/>
                <a:cs typeface="Calibri" pitchFamily="34" charset="0"/>
              </a:rPr>
              <a:t>Study setting</a:t>
            </a:r>
          </a:p>
          <a:p>
            <a:pPr>
              <a:buFont typeface="Arial" pitchFamily="34" charset="0"/>
              <a:buChar char="•"/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Bi weekly </a:t>
            </a:r>
            <a:r>
              <a:rPr lang="en-GB" sz="24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9 Clinics </a:t>
            </a:r>
            <a:r>
              <a:rPr lang="en-GB" sz="2400" dirty="0">
                <a:latin typeface="Calibri" pitchFamily="34" charset="0"/>
                <a:cs typeface="Calibri" pitchFamily="34" charset="0"/>
              </a:rPr>
              <a:t>are held and </a:t>
            </a:r>
            <a:r>
              <a:rPr lang="en-GB" sz="24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average 30 pregnant </a:t>
            </a:r>
            <a:r>
              <a:rPr lang="en-GB" sz="2400" dirty="0">
                <a:latin typeface="Calibri" pitchFamily="34" charset="0"/>
                <a:cs typeface="Calibri" pitchFamily="34" charset="0"/>
              </a:rPr>
              <a:t>mothers are participating in one clinic.</a:t>
            </a:r>
          </a:p>
          <a:p>
            <a:endParaRPr lang="en-GB" sz="24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sz="2800" b="1" dirty="0">
                <a:latin typeface="Calibri" pitchFamily="34" charset="0"/>
                <a:cs typeface="Calibri" pitchFamily="34" charset="0"/>
              </a:rPr>
              <a:t>Study Period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September 2019 to June 2020 for a period of 10 months.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6FDAA99-1D53-426D-BBAB-8E76BC52C241}"/>
              </a:ext>
            </a:extLst>
          </p:cNvPr>
          <p:cNvSpPr txBox="1">
            <a:spLocks/>
          </p:cNvSpPr>
          <p:nvPr/>
        </p:nvSpPr>
        <p:spPr>
          <a:xfrm>
            <a:off x="457200" y="855663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3600" kern="0" dirty="0">
                <a:latin typeface="Arial" panose="020B0604020202020204" pitchFamily="34" charset="0"/>
                <a:cs typeface="Arial" panose="020B0604020202020204" pitchFamily="34" charset="0"/>
              </a:rPr>
              <a:t>Chapter 2 - Research Methodology</a:t>
            </a:r>
          </a:p>
          <a:p>
            <a:pPr algn="ctr" eaLnBrk="0" hangingPunct="0">
              <a:defRPr/>
            </a:pPr>
            <a:endParaRPr lang="en-US" sz="3600" b="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2F4355-E6C8-4059-A0A7-7C1F0F00EE90}"/>
              </a:ext>
            </a:extLst>
          </p:cNvPr>
          <p:cNvSpPr txBox="1">
            <a:spLocks/>
          </p:cNvSpPr>
          <p:nvPr/>
        </p:nvSpPr>
        <p:spPr>
          <a:xfrm>
            <a:off x="457200" y="1495425"/>
            <a:ext cx="8229600" cy="561975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r>
              <a:rPr lang="en-US" sz="3600" dirty="0">
                <a:latin typeface="Calibri" pitchFamily="34" charset="0"/>
                <a:cs typeface="Calibri" pitchFamily="34" charset="0"/>
              </a:rPr>
              <a:t>Materials and Methods</a:t>
            </a:r>
            <a:endParaRPr lang="en-US" sz="3600" b="0" kern="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4970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/>
            </a:br>
            <a:r>
              <a:rPr lang="en-US" sz="3600" b="1" dirty="0">
                <a:latin typeface="Calibri" pitchFamily="34" charset="0"/>
                <a:cs typeface="Calibri" pitchFamily="34" charset="0"/>
              </a:rPr>
              <a:t>Materials and Methods cont.</a:t>
            </a:r>
            <a:br>
              <a:rPr lang="en-US" sz="3600" b="1" dirty="0">
                <a:latin typeface="Calibri" pitchFamily="34" charset="0"/>
                <a:cs typeface="Calibri" pitchFamily="34" charset="0"/>
              </a:rPr>
            </a:br>
            <a:endParaRPr lang="en-US" sz="3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cs typeface="Calibri" pitchFamily="34" charset="0"/>
              </a:rPr>
              <a:t>Study population</a:t>
            </a: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Study population is the pregnant mothers in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Chilaw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MOH area attending polyclinics 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Inclusion –pregnant mothers in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Chilaw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MOH area, not having major physical or psychological problems affecting their ability to respond to an interviewer -administered questionnaire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8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dirty="0"/>
            </a:br>
            <a:r>
              <a:rPr lang="en-US" sz="3600" b="1" dirty="0">
                <a:latin typeface="Calibri" pitchFamily="34" charset="0"/>
                <a:cs typeface="Calibri" pitchFamily="34" charset="0"/>
              </a:rPr>
              <a:t>Materials and Methods cont.</a:t>
            </a:r>
            <a:br>
              <a:rPr lang="en-US" sz="3600" b="1" dirty="0">
                <a:latin typeface="Calibri" pitchFamily="34" charset="0"/>
                <a:cs typeface="Calibri" pitchFamily="34" charset="0"/>
              </a:rPr>
            </a:br>
            <a:endParaRPr lang="en-US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cs typeface="Calibri" pitchFamily="34" charset="0"/>
              </a:rPr>
              <a:t>Sample size and Calculation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Lwanga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and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Lemeshow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equation</a:t>
            </a:r>
          </a:p>
          <a:p>
            <a:pPr lvl="1">
              <a:buNone/>
            </a:pPr>
            <a:r>
              <a:rPr lang="en-GB" sz="1800" dirty="0">
                <a:latin typeface="Calibri" pitchFamily="34" charset="0"/>
                <a:cs typeface="Arial" pitchFamily="34" charset="0"/>
              </a:rPr>
              <a:t>n = Z²P (1-P) / d² </a:t>
            </a:r>
            <a:endParaRPr lang="en-US" sz="1800" dirty="0">
              <a:latin typeface="Calibri" pitchFamily="34" charset="0"/>
              <a:cs typeface="Arial" pitchFamily="34" charset="0"/>
            </a:endParaRPr>
          </a:p>
          <a:p>
            <a:pPr lvl="1">
              <a:buNone/>
            </a:pPr>
            <a:r>
              <a:rPr lang="en-GB" sz="1800" dirty="0">
                <a:latin typeface="Calibri" pitchFamily="34" charset="0"/>
                <a:cs typeface="Arial" pitchFamily="34" charset="0"/>
              </a:rPr>
              <a:t>n= Sample size </a:t>
            </a:r>
            <a:endParaRPr lang="en-US" sz="1800" dirty="0">
              <a:latin typeface="Calibri" pitchFamily="34" charset="0"/>
              <a:cs typeface="Arial" pitchFamily="34" charset="0"/>
            </a:endParaRPr>
          </a:p>
          <a:p>
            <a:pPr lvl="1">
              <a:buNone/>
            </a:pPr>
            <a:r>
              <a:rPr lang="en-GB" sz="1800" dirty="0">
                <a:latin typeface="Calibri" pitchFamily="34" charset="0"/>
                <a:cs typeface="Arial" pitchFamily="34" charset="0"/>
              </a:rPr>
              <a:t>z= critical value of specified confidence level</a:t>
            </a:r>
          </a:p>
          <a:p>
            <a:pPr lvl="1">
              <a:buNone/>
            </a:pPr>
            <a:r>
              <a:rPr lang="en-GB" sz="1800" dirty="0">
                <a:latin typeface="Calibri" pitchFamily="34" charset="0"/>
                <a:cs typeface="Arial" pitchFamily="34" charset="0"/>
              </a:rPr>
              <a:t>d= Desire precision</a:t>
            </a:r>
          </a:p>
          <a:p>
            <a:pPr lvl="1">
              <a:buNone/>
            </a:pPr>
            <a:r>
              <a:rPr lang="en-GB" sz="1800" dirty="0">
                <a:latin typeface="Calibri" pitchFamily="34" charset="0"/>
                <a:cs typeface="Arial" pitchFamily="34" charset="0"/>
              </a:rPr>
              <a:t>P= estimated of the proportion, n = (1.96x1.96x50x50)/5x5=</a:t>
            </a:r>
            <a:r>
              <a:rPr lang="en-US" sz="1800" dirty="0">
                <a:solidFill>
                  <a:srgbClr val="FF0000"/>
                </a:solidFill>
                <a:latin typeface="Calibri" pitchFamily="34" charset="0"/>
                <a:cs typeface="Arial" pitchFamily="34" charset="0"/>
              </a:rPr>
              <a:t>422.4</a:t>
            </a:r>
          </a:p>
          <a:p>
            <a:pPr lvl="1">
              <a:buNone/>
            </a:pPr>
            <a:r>
              <a:rPr lang="en-US" sz="2000" b="1" dirty="0">
                <a:latin typeface="Calibri" pitchFamily="34" charset="0"/>
                <a:cs typeface="Calibri" pitchFamily="34" charset="0"/>
              </a:rPr>
              <a:t>However in there no accessible to Sri Lankan literature on the level of knowledge or practice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Therefore population will be consider as 50%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Hence sample size = 384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Non response rate=   10%</a:t>
            </a:r>
          </a:p>
          <a:p>
            <a:pPr marL="0" indent="0" algn="ctr">
              <a:buNone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384+10% = 422.4</a:t>
            </a:r>
          </a:p>
          <a:p>
            <a:pPr marL="0" indent="0" algn="ctr">
              <a:buNone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                                              = 422 (Rounded value)</a:t>
            </a: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/>
            </a:br>
            <a:r>
              <a:rPr lang="en-US" sz="3600" b="1" dirty="0">
                <a:latin typeface="Calibri" pitchFamily="34" charset="0"/>
                <a:cs typeface="Calibri" pitchFamily="34" charset="0"/>
              </a:rPr>
              <a:t>Materials and Methods cont.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cs typeface="Calibri" pitchFamily="34" charset="0"/>
              </a:rPr>
              <a:t>Sampling Technique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Data collection will be started on the 1</a:t>
            </a:r>
            <a:r>
              <a:rPr lang="en-US" sz="2400" baseline="30000" dirty="0">
                <a:latin typeface="Calibri" pitchFamily="34" charset="0"/>
                <a:cs typeface="Calibri" pitchFamily="34" charset="0"/>
              </a:rPr>
              <a:t>st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Monday of a given month  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Relevant clinic will be visited and all pregnant mothers, full of inclusion criteria will be selected</a:t>
            </a:r>
          </a:p>
          <a:p>
            <a:pPr marL="0" indent="0">
              <a:buNone/>
            </a:pPr>
            <a:endParaRPr lang="en-US" sz="2800" b="1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sz="2800" b="1" dirty="0">
                <a:latin typeface="Calibri" pitchFamily="34" charset="0"/>
                <a:cs typeface="Calibri" pitchFamily="34" charset="0"/>
              </a:rPr>
              <a:t>Study Instruments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Data will be gathered using interviewer administered questionnaire 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Consists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of close–end type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questionnaire 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1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/>
            </a:br>
            <a:r>
              <a:rPr lang="en-US" sz="3600" b="1" dirty="0">
                <a:latin typeface="Calibri" pitchFamily="34" charset="0"/>
                <a:cs typeface="Calibri" pitchFamily="34" charset="0"/>
              </a:rPr>
              <a:t>Materials and Methods cont.</a:t>
            </a:r>
            <a:endParaRPr lang="en-US" sz="3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548640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cs typeface="Calibri" pitchFamily="34" charset="0"/>
              </a:rPr>
              <a:t>Study Instruments </a:t>
            </a:r>
          </a:p>
          <a:p>
            <a:pPr marL="0" indent="0">
              <a:buNone/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62" t="20634" r="13838" b="8248"/>
          <a:stretch/>
        </p:blipFill>
        <p:spPr bwMode="auto">
          <a:xfrm>
            <a:off x="1161142" y="1905000"/>
            <a:ext cx="6763657" cy="4568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893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/>
            </a:br>
            <a:r>
              <a:rPr lang="en-US" sz="3600" b="1" dirty="0">
                <a:latin typeface="Calibri" pitchFamily="34" charset="0"/>
                <a:cs typeface="Calibri" pitchFamily="34" charset="0"/>
              </a:rPr>
              <a:t>Materials and Methods cont.</a:t>
            </a:r>
            <a:br>
              <a:rPr lang="en-US" dirty="0">
                <a:latin typeface="Calibri" pitchFamily="34" charset="0"/>
                <a:cs typeface="Calibri" pitchFamily="34" charset="0"/>
              </a:rPr>
            </a:b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b="1" dirty="0">
                <a:latin typeface="Calibri" pitchFamily="34" charset="0"/>
                <a:cs typeface="Calibri" pitchFamily="34" charset="0"/>
              </a:rPr>
              <a:t>Study Instruments </a:t>
            </a:r>
          </a:p>
          <a:p>
            <a:pPr marL="0" indent="0">
              <a:buNone/>
            </a:pPr>
            <a:br>
              <a:rPr lang="en-US" sz="2800" dirty="0">
                <a:latin typeface="Calibri" pitchFamily="34" charset="0"/>
                <a:cs typeface="Calibri" pitchFamily="34" charset="0"/>
              </a:rPr>
            </a:br>
            <a:r>
              <a:rPr lang="en-US" sz="2000" b="1" dirty="0">
                <a:latin typeface="Calibri" pitchFamily="34" charset="0"/>
                <a:cs typeface="Calibri" pitchFamily="34" charset="0"/>
              </a:rPr>
              <a:t>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4" t="22818" r="5995" b="7059"/>
          <a:stretch/>
        </p:blipFill>
        <p:spPr bwMode="auto">
          <a:xfrm>
            <a:off x="0" y="2191285"/>
            <a:ext cx="7970162" cy="44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024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>
                <a:latin typeface="Calibri" pitchFamily="34" charset="0"/>
                <a:cs typeface="Calibri" pitchFamily="34" charset="0"/>
              </a:rPr>
            </a:br>
            <a:r>
              <a:rPr lang="en-US" sz="3600" b="1" dirty="0">
                <a:latin typeface="Calibri" pitchFamily="34" charset="0"/>
                <a:cs typeface="Calibri" pitchFamily="34" charset="0"/>
              </a:rPr>
              <a:t>Materials and Methods cont.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latin typeface="Calibri" pitchFamily="34" charset="0"/>
                <a:cs typeface="Calibri" pitchFamily="34" charset="0"/>
              </a:rPr>
              <a:t>Study Instruments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4" t="20966" r="11315" b="33518"/>
          <a:stretch/>
        </p:blipFill>
        <p:spPr bwMode="auto">
          <a:xfrm>
            <a:off x="457200" y="2206170"/>
            <a:ext cx="8153400" cy="358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36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/>
            </a:br>
            <a:r>
              <a:rPr lang="en-US" sz="3600" b="1" dirty="0">
                <a:latin typeface="Calibri" pitchFamily="34" charset="0"/>
                <a:cs typeface="Calibri" pitchFamily="34" charset="0"/>
              </a:rPr>
              <a:t>Materials and Methods cont.</a:t>
            </a:r>
            <a:endParaRPr lang="en-US" sz="3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 b="1" dirty="0">
                <a:latin typeface="Calibri" pitchFamily="34" charset="0"/>
                <a:cs typeface="Calibri" pitchFamily="34" charset="0"/>
              </a:rPr>
              <a:t>Study Implementation Data collection</a:t>
            </a:r>
          </a:p>
          <a:p>
            <a:r>
              <a:rPr lang="en-GB" sz="2400" dirty="0">
                <a:latin typeface="Calibri" pitchFamily="34" charset="0"/>
                <a:cs typeface="Calibri" pitchFamily="34" charset="0"/>
              </a:rPr>
              <a:t>Obtaining of ethical and administrative clearance from PDHS, RDHS and MOH </a:t>
            </a:r>
          </a:p>
          <a:p>
            <a:endParaRPr lang="en-GB" sz="2400" dirty="0">
              <a:latin typeface="Calibri" pitchFamily="34" charset="0"/>
              <a:cs typeface="Calibri" pitchFamily="34" charset="0"/>
            </a:endParaRPr>
          </a:p>
          <a:p>
            <a:r>
              <a:rPr lang="en-GB" sz="2400" dirty="0">
                <a:latin typeface="Calibri" pitchFamily="34" charset="0"/>
                <a:cs typeface="Calibri" pitchFamily="34" charset="0"/>
              </a:rPr>
              <a:t>Initiate data collection  </a:t>
            </a:r>
          </a:p>
          <a:p>
            <a:endParaRPr lang="en-GB" sz="2400" dirty="0">
              <a:latin typeface="Calibri" pitchFamily="34" charset="0"/>
              <a:cs typeface="Calibri" pitchFamily="34" charset="0"/>
            </a:endParaRPr>
          </a:p>
          <a:p>
            <a:r>
              <a:rPr lang="en-GB" sz="2400" dirty="0">
                <a:latin typeface="Calibri" pitchFamily="34" charset="0"/>
                <a:cs typeface="Calibri" pitchFamily="34" charset="0"/>
              </a:rPr>
              <a:t>Investigators will administer the study questionnaire in the clinics while the individuals are waiting for their turn</a:t>
            </a:r>
          </a:p>
          <a:p>
            <a:endParaRPr lang="en-GB" sz="2400" dirty="0">
              <a:latin typeface="Calibri" pitchFamily="34" charset="0"/>
              <a:cs typeface="Calibri" pitchFamily="34" charset="0"/>
            </a:endParaRPr>
          </a:p>
          <a:p>
            <a:r>
              <a:rPr lang="en-GB" sz="2400" dirty="0">
                <a:latin typeface="Calibri" pitchFamily="34" charset="0"/>
                <a:cs typeface="Calibri" pitchFamily="34" charset="0"/>
              </a:rPr>
              <a:t>After obtaining their informed written consent the investigators will personally approach the participants and collect the data using the questioner</a:t>
            </a:r>
            <a:br>
              <a:rPr lang="en-GB" sz="2800" b="1" dirty="0">
                <a:latin typeface="Calibri" pitchFamily="34" charset="0"/>
                <a:cs typeface="Calibri" pitchFamily="34" charset="0"/>
              </a:rPr>
            </a:b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82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>
                <a:latin typeface="Calibri" pitchFamily="34" charset="0"/>
                <a:cs typeface="Calibri" pitchFamily="34" charset="0"/>
              </a:rPr>
            </a:br>
            <a:r>
              <a:rPr lang="en-US" sz="3600" b="1" dirty="0">
                <a:latin typeface="Calibri" pitchFamily="34" charset="0"/>
                <a:cs typeface="Calibri" pitchFamily="34" charset="0"/>
              </a:rPr>
              <a:t>Materials and Methods cont.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 b="1" dirty="0">
                <a:latin typeface="Calibri" pitchFamily="34" charset="0"/>
                <a:cs typeface="Calibri" pitchFamily="34" charset="0"/>
              </a:rPr>
              <a:t>Data analysis </a:t>
            </a:r>
          </a:p>
          <a:p>
            <a:r>
              <a:rPr lang="en-GB" sz="2400" dirty="0">
                <a:latin typeface="Calibri" pitchFamily="34" charset="0"/>
                <a:cs typeface="Arial" pitchFamily="34" charset="0"/>
              </a:rPr>
              <a:t>IBM SPSS Statistics software package version 25 </a:t>
            </a:r>
          </a:p>
          <a:p>
            <a:endParaRPr lang="en-GB" sz="2400" dirty="0">
              <a:latin typeface="Calibri" pitchFamily="34" charset="0"/>
              <a:cs typeface="Arial" pitchFamily="34" charset="0"/>
            </a:endParaRPr>
          </a:p>
          <a:p>
            <a:r>
              <a:rPr lang="en-GB" sz="2400" dirty="0">
                <a:latin typeface="Calibri" pitchFamily="34" charset="0"/>
                <a:cs typeface="Arial" pitchFamily="34" charset="0"/>
              </a:rPr>
              <a:t>Descriptive statistics will be analysed using percentages, frequencies, mean, medians and standard deviation </a:t>
            </a:r>
          </a:p>
          <a:p>
            <a:endParaRPr lang="en-GB" sz="2400" dirty="0">
              <a:latin typeface="Calibri" pitchFamily="34" charset="0"/>
              <a:cs typeface="Arial" pitchFamily="34" charset="0"/>
            </a:endParaRPr>
          </a:p>
          <a:p>
            <a:r>
              <a:rPr lang="en-GB" sz="2400" dirty="0">
                <a:latin typeface="Calibri" pitchFamily="34" charset="0"/>
                <a:cs typeface="Arial" pitchFamily="34" charset="0"/>
              </a:rPr>
              <a:t>Relationships will be analysed using bivariate analysis t test, chi square and correlation test will be done </a:t>
            </a:r>
          </a:p>
          <a:p>
            <a:endParaRPr lang="en-GB" sz="2400" dirty="0">
              <a:latin typeface="Calibri" pitchFamily="34" charset="0"/>
              <a:cs typeface="Arial" pitchFamily="34" charset="0"/>
            </a:endParaRPr>
          </a:p>
          <a:p>
            <a:r>
              <a:rPr lang="en-GB" sz="2400" dirty="0">
                <a:latin typeface="Calibri" pitchFamily="34" charset="0"/>
                <a:cs typeface="Arial" pitchFamily="34" charset="0"/>
              </a:rPr>
              <a:t>Knowledge, and practice will be quantify using a scoring method </a:t>
            </a:r>
          </a:p>
          <a:p>
            <a:endParaRPr lang="en-GB" sz="2400" dirty="0">
              <a:latin typeface="Calibri" pitchFamily="34" charset="0"/>
              <a:cs typeface="Arial" pitchFamily="34" charset="0"/>
            </a:endParaRPr>
          </a:p>
          <a:p>
            <a:pPr marL="0" indent="0">
              <a:buNone/>
            </a:pPr>
            <a:br>
              <a:rPr lang="en-GB" sz="2400" dirty="0">
                <a:latin typeface="Calibri" pitchFamily="34" charset="0"/>
                <a:cs typeface="Calibri" pitchFamily="34" charset="0"/>
              </a:rPr>
            </a:br>
            <a:br>
              <a:rPr lang="en-US" sz="2000" dirty="0">
                <a:latin typeface="Calibri" pitchFamily="34" charset="0"/>
                <a:cs typeface="Calibri" pitchFamily="34" charset="0"/>
              </a:rPr>
            </a:br>
            <a:endParaRPr lang="en-GB" sz="24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GB" sz="2400" b="1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br>
              <a:rPr lang="en-GB" sz="2800" b="1" dirty="0">
                <a:latin typeface="Calibri" pitchFamily="34" charset="0"/>
                <a:cs typeface="Calibri" pitchFamily="34" charset="0"/>
              </a:rPr>
            </a:br>
            <a:br>
              <a:rPr lang="en-GB" sz="2800" dirty="0">
                <a:latin typeface="Calibri" pitchFamily="34" charset="0"/>
                <a:cs typeface="Calibri" pitchFamily="34" charset="0"/>
              </a:rPr>
            </a:br>
            <a:r>
              <a:rPr lang="en-GB" sz="2800" dirty="0">
                <a:latin typeface="Calibri" pitchFamily="34" charset="0"/>
                <a:cs typeface="Calibri" pitchFamily="34" charset="0"/>
              </a:rPr>
              <a:t>	</a:t>
            </a:r>
            <a:br>
              <a:rPr lang="en-GB" sz="2800" dirty="0">
                <a:latin typeface="Calibri" pitchFamily="34" charset="0"/>
                <a:cs typeface="Calibri" pitchFamily="34" charset="0"/>
              </a:rPr>
            </a:br>
            <a:br>
              <a:rPr lang="en-US" sz="2800" b="1" dirty="0">
                <a:latin typeface="Calibri" pitchFamily="34" charset="0"/>
                <a:cs typeface="Calibri" pitchFamily="34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642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>
                <a:latin typeface="Calibri" pitchFamily="34" charset="0"/>
                <a:cs typeface="Calibri" pitchFamily="34" charset="0"/>
              </a:rPr>
            </a:br>
            <a:r>
              <a:rPr lang="en-US" sz="3600" b="1" dirty="0">
                <a:latin typeface="Calibri" pitchFamily="34" charset="0"/>
                <a:cs typeface="Calibri" pitchFamily="34" charset="0"/>
              </a:rPr>
              <a:t>Materials and Methods cont.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sz="2800" b="1" dirty="0">
                <a:latin typeface="Calibri" pitchFamily="34" charset="0"/>
                <a:cs typeface="Arial" pitchFamily="34" charset="0"/>
              </a:rPr>
              <a:t>Ethical and administrative clearance</a:t>
            </a:r>
            <a:endParaRPr lang="en-US" sz="2800" dirty="0">
              <a:latin typeface="Calibri" pitchFamily="34" charset="0"/>
              <a:cs typeface="Arial" pitchFamily="34" charset="0"/>
            </a:endParaRPr>
          </a:p>
          <a:p>
            <a:r>
              <a:rPr lang="en-GB" sz="2400" dirty="0">
                <a:latin typeface="Calibri" pitchFamily="34" charset="0"/>
                <a:cs typeface="Arial" pitchFamily="34" charset="0"/>
              </a:rPr>
              <a:t>Ethical clearance will be obtained from National Institute of Health Science (NIHS), </a:t>
            </a:r>
            <a:r>
              <a:rPr lang="en-GB" sz="2400" dirty="0" err="1">
                <a:latin typeface="Calibri" pitchFamily="34" charset="0"/>
                <a:cs typeface="Arial" pitchFamily="34" charset="0"/>
              </a:rPr>
              <a:t>Kalutara</a:t>
            </a:r>
            <a:r>
              <a:rPr lang="en-GB" sz="2400" dirty="0">
                <a:latin typeface="Calibri" pitchFamily="34" charset="0"/>
                <a:cs typeface="Arial" pitchFamily="34" charset="0"/>
              </a:rPr>
              <a:t> </a:t>
            </a:r>
          </a:p>
          <a:p>
            <a:endParaRPr lang="en-GB" sz="2400" dirty="0">
              <a:latin typeface="Calibri" pitchFamily="34" charset="0"/>
              <a:cs typeface="Arial" pitchFamily="34" charset="0"/>
            </a:endParaRPr>
          </a:p>
          <a:p>
            <a:r>
              <a:rPr lang="en-GB" sz="2400" dirty="0">
                <a:latin typeface="Calibri" pitchFamily="34" charset="0"/>
                <a:cs typeface="Arial" pitchFamily="34" charset="0"/>
              </a:rPr>
              <a:t>Provincial Director of Health (North western)and Regional Director of Health services (</a:t>
            </a:r>
            <a:r>
              <a:rPr lang="en-GB" sz="2400" dirty="0" err="1">
                <a:latin typeface="Calibri" pitchFamily="34" charset="0"/>
                <a:cs typeface="Arial" pitchFamily="34" charset="0"/>
              </a:rPr>
              <a:t>Putalam</a:t>
            </a:r>
            <a:r>
              <a:rPr lang="en-GB" sz="2400" dirty="0">
                <a:latin typeface="Calibri" pitchFamily="34" charset="0"/>
                <a:cs typeface="Arial" pitchFamily="34" charset="0"/>
              </a:rPr>
              <a:t>)</a:t>
            </a:r>
          </a:p>
          <a:p>
            <a:endParaRPr lang="en-GB" sz="2400" dirty="0">
              <a:latin typeface="Calibri" pitchFamily="34" charset="0"/>
              <a:cs typeface="Arial" pitchFamily="34" charset="0"/>
            </a:endParaRPr>
          </a:p>
          <a:p>
            <a:r>
              <a:rPr lang="en-GB" sz="2400" dirty="0">
                <a:latin typeface="Calibri" pitchFamily="34" charset="0"/>
                <a:cs typeface="Arial" pitchFamily="34" charset="0"/>
              </a:rPr>
              <a:t>MOH in </a:t>
            </a:r>
            <a:r>
              <a:rPr lang="en-GB" sz="2400" dirty="0" err="1">
                <a:latin typeface="Calibri" pitchFamily="34" charset="0"/>
                <a:cs typeface="Arial" pitchFamily="34" charset="0"/>
              </a:rPr>
              <a:t>Chilaw</a:t>
            </a:r>
            <a:endParaRPr lang="en-GB" sz="2400" dirty="0">
              <a:latin typeface="Calibri" pitchFamily="34" charset="0"/>
              <a:cs typeface="Arial" pitchFamily="34" charset="0"/>
            </a:endParaRPr>
          </a:p>
          <a:p>
            <a:endParaRPr lang="en-GB" sz="2400" dirty="0">
              <a:latin typeface="Calibri" pitchFamily="34" charset="0"/>
              <a:cs typeface="Arial" pitchFamily="34" charset="0"/>
            </a:endParaRPr>
          </a:p>
          <a:p>
            <a:r>
              <a:rPr lang="en-GB" sz="2400" dirty="0">
                <a:latin typeface="Calibri" pitchFamily="34" charset="0"/>
                <a:cs typeface="Arial" pitchFamily="34" charset="0"/>
              </a:rPr>
              <a:t>Mid-wives/nurses working </a:t>
            </a:r>
            <a:r>
              <a:rPr lang="en-US" sz="2400" dirty="0">
                <a:latin typeface="Calibri" pitchFamily="34" charset="0"/>
                <a:cs typeface="Arial" pitchFamily="34" charset="0"/>
              </a:rPr>
              <a:t>polyclinics</a:t>
            </a:r>
          </a:p>
          <a:p>
            <a:pPr marL="0" indent="0">
              <a:buNone/>
            </a:pPr>
            <a:br>
              <a:rPr lang="en-GB" dirty="0">
                <a:latin typeface="Calibri" pitchFamily="34" charset="0"/>
                <a:cs typeface="Calibri" pitchFamily="34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69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dirty="0">
                <a:latin typeface="Calibri" pitchFamily="34" charset="0"/>
                <a:cs typeface="Calibri" pitchFamily="34" charset="0"/>
              </a:rPr>
            </a:br>
            <a:r>
              <a:rPr lang="en-US" sz="3600" b="1" dirty="0">
                <a:latin typeface="Calibri" pitchFamily="34" charset="0"/>
                <a:cs typeface="Calibri" pitchFamily="34" charset="0"/>
              </a:rPr>
              <a:t>References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6096000"/>
          </a:xfrm>
        </p:spPr>
        <p:txBody>
          <a:bodyPr/>
          <a:lstStyle/>
          <a:p>
            <a:r>
              <a:rPr lang="en-US" sz="1800" dirty="0">
                <a:latin typeface="Calibri" pitchFamily="34" charset="0"/>
                <a:cs typeface="Calibri" pitchFamily="34" charset="0"/>
              </a:rPr>
              <a:t>D'Alessandro, A., Napolitano, F.,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D'Ambrosio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A. and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Angelillo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I. (2018). Vaccination knowledge and acceptability among pregnant women in Italy. </a:t>
            </a:r>
            <a:r>
              <a:rPr lang="en-US" sz="1800" i="1" dirty="0">
                <a:latin typeface="Calibri" pitchFamily="34" charset="0"/>
                <a:cs typeface="Calibri" pitchFamily="34" charset="0"/>
              </a:rPr>
              <a:t>Human Vaccines &amp; </a:t>
            </a:r>
            <a:r>
              <a:rPr lang="en-US" sz="1800" i="1" dirty="0" err="1">
                <a:latin typeface="Calibri" pitchFamily="34" charset="0"/>
                <a:cs typeface="Calibri" pitchFamily="34" charset="0"/>
              </a:rPr>
              <a:t>Immunotherapeutics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14(7), pp.1573-1579.</a:t>
            </a:r>
          </a:p>
          <a:p>
            <a:r>
              <a:rPr lang="en-US" sz="1800" dirty="0">
                <a:latin typeface="Calibri" pitchFamily="34" charset="0"/>
                <a:cs typeface="Calibri" pitchFamily="34" charset="0"/>
              </a:rPr>
              <a:t>Ding, H.,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Santibanez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T., Jamieson, D.,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Weinbaum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C., Euler, G.,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Grohskopf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L., Lu, P. and Singleton, J. (2011). Influenza vaccination coverage among pregnant women–National 2009 H1N1 Flu Survey (NHFS). pp.S96-S106</a:t>
            </a:r>
          </a:p>
          <a:p>
            <a:r>
              <a:rPr lang="en-US" sz="1800" dirty="0" err="1">
                <a:latin typeface="Calibri" pitchFamily="34" charset="0"/>
                <a:cs typeface="Calibri" pitchFamily="34" charset="0"/>
              </a:rPr>
              <a:t>Ditsungnoen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D.,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Greenbaum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A.,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Praphasiri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P.,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Dawood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F., Thompson, M.,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Yoocharoen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P., C. (2016). Knowledge, attitudes and beliefs related to seasonal influenza vaccine among pregnant women in Thailand. </a:t>
            </a:r>
            <a:r>
              <a:rPr lang="en-US" sz="1800" i="1" dirty="0">
                <a:latin typeface="Calibri" pitchFamily="34" charset="0"/>
                <a:cs typeface="Calibri" pitchFamily="34" charset="0"/>
              </a:rPr>
              <a:t>Vaccine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34(18</a:t>
            </a:r>
            <a:r>
              <a:rPr lang="en-US" sz="1800">
                <a:latin typeface="Calibri" pitchFamily="34" charset="0"/>
                <a:cs typeface="Calibri" pitchFamily="34" charset="0"/>
              </a:rPr>
              <a:t>), pp.2141</a:t>
            </a:r>
            <a:endParaRPr lang="en-US" sz="1800" dirty="0">
              <a:latin typeface="Calibri" pitchFamily="34" charset="0"/>
              <a:cs typeface="Calibri" pitchFamily="34" charset="0"/>
            </a:endParaRPr>
          </a:p>
          <a:p>
            <a:r>
              <a:rPr lang="en-US" sz="1800" dirty="0" err="1">
                <a:latin typeface="Calibri" pitchFamily="34" charset="0"/>
                <a:cs typeface="Calibri" pitchFamily="34" charset="0"/>
              </a:rPr>
              <a:t>Olatunbosun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O.,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Esterhuizen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T. and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Wiysonge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C. (2017). A cross sectional survey to evaluate knowledge, attitudes and practices regarding seasonal influenza and influenza vaccination among diabetics in Pretoria, South Africa. </a:t>
            </a:r>
            <a:r>
              <a:rPr lang="en-US" sz="1800" i="1" dirty="0">
                <a:latin typeface="Calibri" pitchFamily="34" charset="0"/>
                <a:cs typeface="Calibri" pitchFamily="34" charset="0"/>
              </a:rPr>
              <a:t>Vaccine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35(47), pp.6375-6386.</a:t>
            </a:r>
          </a:p>
          <a:p>
            <a:r>
              <a:rPr lang="en-US" sz="1800" dirty="0" err="1">
                <a:latin typeface="Calibri" pitchFamily="34" charset="0"/>
                <a:cs typeface="Calibri" pitchFamily="34" charset="0"/>
              </a:rPr>
              <a:t>Wendlandt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R., Cowling, B., Chen, Y.,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Havers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F.,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Shifflett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P., Song, Y., Zhang, R.,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Iuliano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D., </a:t>
            </a:r>
            <a:r>
              <a:rPr lang="en-US" sz="1800" dirty="0" err="1">
                <a:latin typeface="Calibri" pitchFamily="34" charset="0"/>
                <a:cs typeface="Calibri" pitchFamily="34" charset="0"/>
              </a:rPr>
              <a:t>Xu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C., Yu, H., Zhang, J., Zhang, H., Tang, F. and Thompson, M. (2018). Knowledge, attitudes and practices related to the influenza virus and vaccine among older adults in Eastern China. </a:t>
            </a:r>
            <a:r>
              <a:rPr lang="en-US" sz="1800" i="1" dirty="0">
                <a:latin typeface="Calibri" pitchFamily="34" charset="0"/>
                <a:cs typeface="Calibri" pitchFamily="34" charset="0"/>
              </a:rPr>
              <a:t>Vaccine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, 36(19), pp.2673-2682.</a:t>
            </a:r>
          </a:p>
          <a:p>
            <a:r>
              <a:rPr lang="en-US" sz="1800" dirty="0">
                <a:latin typeface="Calibri" pitchFamily="34" charset="0"/>
                <a:cs typeface="Calibri" pitchFamily="34" charset="0"/>
              </a:rPr>
              <a:t>WHO (2019). </a:t>
            </a:r>
            <a:r>
              <a:rPr lang="en-US" sz="1800" i="1" dirty="0">
                <a:latin typeface="Calibri" pitchFamily="34" charset="0"/>
                <a:cs typeface="Calibri" pitchFamily="34" charset="0"/>
              </a:rPr>
              <a:t>WHO | WHO recommendations on pandemic (H1N1) 2009 vaccines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.</a:t>
            </a:r>
          </a:p>
          <a:p>
            <a:endParaRPr lang="en-US" sz="1800" dirty="0">
              <a:latin typeface="Calibri" pitchFamily="34" charset="0"/>
              <a:cs typeface="Calibri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967-6988-4716-8A83-B1ECAB1530EA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8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EDFD5B2-369F-4D2D-B333-E3BC79D2297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3491" name="Rectangle 2"/>
          <p:cNvSpPr>
            <a:spLocks noChangeArrowheads="1"/>
          </p:cNvSpPr>
          <p:nvPr/>
        </p:nvSpPr>
        <p:spPr bwMode="auto">
          <a:xfrm>
            <a:off x="577850" y="2930525"/>
            <a:ext cx="7335838" cy="132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8000" dirty="0">
                <a:latin typeface="Calibri" pitchFamily="34" charset="0"/>
                <a:cs typeface="Calibri" pitchFamily="34" charset="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49001"/>
          </a:schemeClr>
        </a:solidFill>
        <a:ln w="1143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49001"/>
          </a:schemeClr>
        </a:solidFill>
        <a:ln w="1143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8814</TotalTime>
  <Words>1333</Words>
  <Application>Microsoft Office PowerPoint</Application>
  <PresentationFormat>On-screen Show (4:3)</PresentationFormat>
  <Paragraphs>189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Default Design</vt:lpstr>
      <vt:lpstr>PowerPoint Presentation</vt:lpstr>
      <vt:lpstr>Contents:</vt:lpstr>
      <vt:lpstr>PowerPoint Presentation</vt:lpstr>
      <vt:lpstr>PowerPoint Presentation</vt:lpstr>
      <vt:lpstr>PowerPoint Presentation</vt:lpstr>
      <vt:lpstr>PowerPoint Presentation</vt:lpstr>
      <vt:lpstr>  History and current trends in influenza virus infections with special reference to Sri Lanka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Materials and Methods cont. </vt:lpstr>
      <vt:lpstr> Materials and Methods cont. </vt:lpstr>
      <vt:lpstr> Materials and Methods cont.</vt:lpstr>
      <vt:lpstr> Materials and Methods cont.</vt:lpstr>
      <vt:lpstr> Materials and Methods cont. </vt:lpstr>
      <vt:lpstr> Materials and Methods cont.</vt:lpstr>
      <vt:lpstr> Materials and Methods cont.</vt:lpstr>
      <vt:lpstr> Materials and Methods cont.</vt:lpstr>
      <vt:lpstr> Materials and Methods cont.</vt:lpstr>
      <vt:lpstr> References</vt:lpstr>
      <vt:lpstr>PowerPoint Presentation</vt:lpstr>
    </vt:vector>
  </TitlesOfParts>
  <Company>MSU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GMC</dc:creator>
  <cp:lastModifiedBy>M s u</cp:lastModifiedBy>
  <cp:revision>663</cp:revision>
  <dcterms:created xsi:type="dcterms:W3CDTF">2004-10-26T15:35:07Z</dcterms:created>
  <dcterms:modified xsi:type="dcterms:W3CDTF">2020-10-27T07:42:56Z</dcterms:modified>
</cp:coreProperties>
</file>