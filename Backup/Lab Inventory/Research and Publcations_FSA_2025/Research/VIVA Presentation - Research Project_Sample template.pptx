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8" r:id="rId19"/>
    <p:sldId id="273" r:id="rId20"/>
    <p:sldId id="274" r:id="rId21"/>
    <p:sldId id="275" r:id="rId22"/>
    <p:sldId id="276" r:id="rId23"/>
    <p:sldId id="277" r:id="rId24"/>
  </p:sldIdLst>
  <p:sldSz cx="12192000" cy="6858000"/>
  <p:notesSz cx="6858000" cy="91440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0" d="100"/>
          <a:sy n="90" d="100"/>
        </p:scale>
        <p:origin x="16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fld id="{571661CB-8571-4A5D-AFDC-EC154D01DE41}" type="datetimeFigureOut">
              <a:rPr lang="en-US" smtClean="0"/>
              <a:t>5/21/2024</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243269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571661CB-8571-4A5D-AFDC-EC154D01DE41}" type="datetimeFigureOut">
              <a:rPr lang="en-US" smtClean="0"/>
              <a:t>5/21/2024</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545945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571661CB-8571-4A5D-AFDC-EC154D01DE41}" type="datetimeFigureOut">
              <a:rPr lang="en-US" smtClean="0"/>
              <a:t>5/21/2024</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197819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571661CB-8571-4A5D-AFDC-EC154D01DE41}" type="datetimeFigureOut">
              <a:rPr lang="en-US" smtClean="0"/>
              <a:t>5/21/2024</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2527884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571661CB-8571-4A5D-AFDC-EC154D01DE41}" type="datetimeFigureOut">
              <a:rPr lang="en-US" smtClean="0"/>
              <a:t>5/21/2024</a:t>
            </a:fld>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2958809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571661CB-8571-4A5D-AFDC-EC154D01DE41}" type="datetimeFigureOut">
              <a:rPr lang="en-US" smtClean="0"/>
              <a:t>5/21/2024</a:t>
            </a:fld>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330236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571661CB-8571-4A5D-AFDC-EC154D01DE41}" type="datetimeFigureOut">
              <a:rPr lang="en-US" smtClean="0"/>
              <a:t>5/21/2024</a:t>
            </a:fld>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2260292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571661CB-8571-4A5D-AFDC-EC154D01DE41}" type="datetimeFigureOut">
              <a:rPr lang="en-US" smtClean="0"/>
              <a:t>5/21/2024</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1867304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571661CB-8571-4A5D-AFDC-EC154D01DE41}" type="datetimeFigureOut">
              <a:rPr lang="en-US" smtClean="0"/>
              <a:t>5/21/2024</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2804045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571661CB-8571-4A5D-AFDC-EC154D01DE41}" type="datetimeFigureOut">
              <a:rPr lang="en-US" smtClean="0"/>
              <a:t>5/21/2024</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3073378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571661CB-8571-4A5D-AFDC-EC154D01DE41}" type="datetimeFigureOut">
              <a:rPr lang="en-US" smtClean="0"/>
              <a:t>5/21/2024</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1321342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fld id="{571661CB-8571-4A5D-AFDC-EC154D01DE41}" type="datetimeFigureOut">
              <a:rPr lang="en-US" smtClean="0"/>
              <a:t>5/21/2024</a:t>
            </a:fld>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15007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5225"/>
            <a:ext cx="2844800" cy="476250"/>
          </a:xfrm>
        </p:spPr>
        <p:txBody>
          <a:bodyPr/>
          <a:lstStyle>
            <a:lvl1pPr>
              <a:defRPr/>
            </a:lvl1pPr>
          </a:lstStyle>
          <a:p>
            <a:fld id="{571661CB-8571-4A5D-AFDC-EC154D01DE41}" type="datetimeFigureOut">
              <a:rPr lang="en-US" smtClean="0"/>
              <a:t>5/21/2024</a:t>
            </a:fld>
            <a:endParaRPr lang="en-US"/>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6F71EBF2-C78C-43DA-BED1-21336CC9B248}" type="slidenum">
              <a:rPr lang="en-US" smtClean="0"/>
              <a:t>‹#›</a:t>
            </a:fld>
            <a:endParaRPr lang="en-US"/>
          </a:p>
        </p:txBody>
      </p:sp>
    </p:spTree>
    <p:extLst>
      <p:ext uri="{BB962C8B-B14F-4D97-AF65-F5344CB8AC3E}">
        <p14:creationId xmlns:p14="http://schemas.microsoft.com/office/powerpoint/2010/main" val="241638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jpe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10" descr="MSU Flower - half"/>
          <p:cNvPicPr>
            <a:picLocks noChangeAspect="1" noChangeArrowheads="1"/>
          </p:cNvPicPr>
          <p:nvPr/>
        </p:nvPicPr>
        <p:blipFill>
          <a:blip r:embed="rId15">
            <a:clrChange>
              <a:clrFrom>
                <a:srgbClr val="FDFDFD"/>
              </a:clrFrom>
              <a:clrTo>
                <a:srgbClr val="FDFDFD">
                  <a:alpha val="0"/>
                </a:srgbClr>
              </a:clrTo>
            </a:clrChange>
          </a:blip>
          <a:srcRect/>
          <a:stretch>
            <a:fillRect/>
          </a:stretch>
        </p:blipFill>
        <p:spPr bwMode="auto">
          <a:xfrm>
            <a:off x="4047067" y="0"/>
            <a:ext cx="8144933" cy="6858000"/>
          </a:xfrm>
          <a:prstGeom prst="rect">
            <a:avLst/>
          </a:prstGeom>
          <a:noFill/>
          <a:ln w="9525">
            <a:noFill/>
            <a:miter lim="800000"/>
            <a:headEnd/>
            <a:tailEnd/>
          </a:ln>
        </p:spPr>
      </p:pic>
      <p:sp>
        <p:nvSpPr>
          <p:cNvPr id="111620"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Arial" charset="0"/>
              </a:defRPr>
            </a:lvl1pPr>
          </a:lstStyle>
          <a:p>
            <a:fld id="{571661CB-8571-4A5D-AFDC-EC154D01DE41}" type="datetimeFigureOut">
              <a:rPr lang="en-US" smtClean="0"/>
              <a:t>5/21/2024</a:t>
            </a:fld>
            <a:endParaRPr lang="en-US"/>
          </a:p>
        </p:txBody>
      </p:sp>
      <p:sp>
        <p:nvSpPr>
          <p:cNvPr id="111621"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Arial" charset="0"/>
              </a:defRPr>
            </a:lvl1pPr>
          </a:lstStyle>
          <a:p>
            <a:endParaRPr lang="en-US"/>
          </a:p>
        </p:txBody>
      </p:sp>
      <p:sp>
        <p:nvSpPr>
          <p:cNvPr id="111622"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Arial" charset="0"/>
              </a:defRPr>
            </a:lvl1pPr>
          </a:lstStyle>
          <a:p>
            <a:fld id="{6F71EBF2-C78C-43DA-BED1-21336CC9B248}" type="slidenum">
              <a:rPr lang="en-US" smtClean="0"/>
              <a:t>‹#›</a:t>
            </a:fld>
            <a:endParaRPr lang="en-US"/>
          </a:p>
        </p:txBody>
      </p:sp>
      <p:pic>
        <p:nvPicPr>
          <p:cNvPr id="2054" name="Picture 8" descr="MSU Logo2"/>
          <p:cNvPicPr>
            <a:picLocks noChangeAspect="1" noChangeArrowheads="1"/>
          </p:cNvPicPr>
          <p:nvPr/>
        </p:nvPicPr>
        <p:blipFill>
          <a:blip r:embed="rId16"/>
          <a:srcRect/>
          <a:stretch>
            <a:fillRect/>
          </a:stretch>
        </p:blipFill>
        <p:spPr bwMode="auto">
          <a:xfrm>
            <a:off x="258234" y="165101"/>
            <a:ext cx="2764367" cy="784225"/>
          </a:xfrm>
          <a:prstGeom prst="rect">
            <a:avLst/>
          </a:prstGeom>
          <a:noFill/>
          <a:ln w="9525">
            <a:noFill/>
            <a:miter lim="800000"/>
            <a:headEnd/>
            <a:tailEnd/>
          </a:ln>
        </p:spPr>
      </p:pic>
      <p:pic>
        <p:nvPicPr>
          <p:cNvPr id="2055" name="Picture 9" descr="Uni of Choice"/>
          <p:cNvPicPr>
            <a:picLocks noChangeAspect="1" noChangeArrowheads="1"/>
          </p:cNvPicPr>
          <p:nvPr/>
        </p:nvPicPr>
        <p:blipFill>
          <a:blip r:embed="rId17">
            <a:clrChange>
              <a:clrFrom>
                <a:srgbClr val="FFFFFF"/>
              </a:clrFrom>
              <a:clrTo>
                <a:srgbClr val="FFFFFF">
                  <a:alpha val="0"/>
                </a:srgbClr>
              </a:clrTo>
            </a:clrChange>
          </a:blip>
          <a:srcRect/>
          <a:stretch>
            <a:fillRect/>
          </a:stretch>
        </p:blipFill>
        <p:spPr bwMode="auto">
          <a:xfrm>
            <a:off x="8788400" y="0"/>
            <a:ext cx="3403600" cy="914400"/>
          </a:xfrm>
          <a:prstGeom prst="rect">
            <a:avLst/>
          </a:prstGeom>
          <a:noFill/>
          <a:ln w="9525">
            <a:noFill/>
            <a:miter lim="800000"/>
            <a:headEnd/>
            <a:tailEnd/>
          </a:ln>
        </p:spPr>
      </p:pic>
    </p:spTree>
    <p:extLst>
      <p:ext uri="{BB962C8B-B14F-4D97-AF65-F5344CB8AC3E}">
        <p14:creationId xmlns:p14="http://schemas.microsoft.com/office/powerpoint/2010/main" val="3031158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www.betterhealth.vic.gov.au/health/conditionsandtreatments/fatigue" TargetMode="External"/><Relationship Id="rId3" Type="http://schemas.openxmlformats.org/officeDocument/2006/relationships/hyperlink" Target="https://pubmed.ncbi.nlm.nih.gov/32762116/" TargetMode="External"/><Relationship Id="rId7" Type="http://schemas.openxmlformats.org/officeDocument/2006/relationships/hyperlink" Target="http://dx.doi.org/10.2139/ssrn.3606716" TargetMode="External"/><Relationship Id="rId2" Type="http://schemas.openxmlformats.org/officeDocument/2006/relationships/hyperlink" Target="http://dx.doi.org/10.5451/unibas-ep61317" TargetMode="External"/><Relationship Id="rId1" Type="http://schemas.openxmlformats.org/officeDocument/2006/relationships/slideLayout" Target="../slideLayouts/slideLayout2.xml"/><Relationship Id="rId6" Type="http://schemas.openxmlformats.org/officeDocument/2006/relationships/hyperlink" Target="https://doi.org/10.1016/j.chb.2014.11.048" TargetMode="External"/><Relationship Id="rId5" Type="http://schemas.openxmlformats.org/officeDocument/2006/relationships/hyperlink" Target="http://dx.doi.org/10.2139/ssrn.3695191" TargetMode="External"/><Relationship Id="rId4" Type="http://schemas.openxmlformats.org/officeDocument/2006/relationships/hyperlink" Target="https://ssrn.com/abstract=3650114"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089/cyber.2020.0370" TargetMode="External"/><Relationship Id="rId7" Type="http://schemas.openxmlformats.org/officeDocument/2006/relationships/hyperlink" Target="https://doi.org/10.1016/0022-3999(94)00125-O" TargetMode="External"/><Relationship Id="rId2" Type="http://schemas.openxmlformats.org/officeDocument/2006/relationships/hyperlink" Target="https://doi.org/10.1589/jpts.28.1233" TargetMode="External"/><Relationship Id="rId1" Type="http://schemas.openxmlformats.org/officeDocument/2006/relationships/slideLayout" Target="../slideLayouts/slideLayout2.xml"/><Relationship Id="rId6" Type="http://schemas.openxmlformats.org/officeDocument/2006/relationships/hyperlink" Target="https://doi.org/10.1016/j.jvoice.2014.09.012" TargetMode="External"/><Relationship Id="rId5" Type="http://schemas.openxmlformats.org/officeDocument/2006/relationships/hyperlink" Target="https://www.businessofapps.com/data/zoom-statistics/" TargetMode="External"/><Relationship Id="rId4" Type="http://schemas.openxmlformats.org/officeDocument/2006/relationships/hyperlink" Target="https://doi.org/10.1207/s1532785xmep0104_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6E0FC3-26D5-128D-108D-EEA1F00CC617}"/>
              </a:ext>
            </a:extLst>
          </p:cNvPr>
          <p:cNvPicPr>
            <a:picLocks noChangeAspect="1"/>
          </p:cNvPicPr>
          <p:nvPr/>
        </p:nvPicPr>
        <p:blipFill>
          <a:blip r:embed="rId2"/>
          <a:stretch>
            <a:fillRect/>
          </a:stretch>
        </p:blipFill>
        <p:spPr>
          <a:xfrm>
            <a:off x="609124" y="2855926"/>
            <a:ext cx="10973751" cy="1146147"/>
          </a:xfrm>
          <a:prstGeom prst="rect">
            <a:avLst/>
          </a:prstGeom>
        </p:spPr>
      </p:pic>
      <p:sp>
        <p:nvSpPr>
          <p:cNvPr id="4" name="TextBox 3">
            <a:extLst>
              <a:ext uri="{FF2B5EF4-FFF2-40B4-BE49-F238E27FC236}">
                <a16:creationId xmlns:a16="http://schemas.microsoft.com/office/drawing/2014/main" id="{D44CF118-EA07-06B8-6B32-6D3096EC046D}"/>
              </a:ext>
            </a:extLst>
          </p:cNvPr>
          <p:cNvSpPr txBox="1"/>
          <p:nvPr/>
        </p:nvSpPr>
        <p:spPr>
          <a:xfrm>
            <a:off x="1524559" y="1761565"/>
            <a:ext cx="9142880" cy="1905330"/>
          </a:xfrm>
          <a:prstGeom prst="rect">
            <a:avLst/>
          </a:prstGeom>
          <a:noFill/>
        </p:spPr>
        <p:txBody>
          <a:bodyPr wrap="square">
            <a:spAutoFit/>
          </a:bodyPr>
          <a:lstStyle/>
          <a:p>
            <a:pPr marL="0" marR="0" algn="ctr">
              <a:lnSpc>
                <a:spcPct val="107000"/>
              </a:lnSpc>
              <a:spcBef>
                <a:spcPts val="0"/>
              </a:spcBef>
              <a:spcAft>
                <a:spcPts val="800"/>
              </a:spcAft>
            </a:pPr>
            <a:r>
              <a:rPr lang="en-US" sz="2800" dirty="0">
                <a:latin typeface="Times New Roman" panose="02020603050405020304" pitchFamily="18" charset="0"/>
                <a:cs typeface="Times New Roman" panose="02020603050405020304" pitchFamily="18" charset="0"/>
              </a:rPr>
              <a:t>ONLINE SURVEY ON “ZOOM EXHAUSTION AND FATIGUE” AMONG PRIVATE-SECTOR EMPLOYEES WORKING FROM HOME IN COLOMBO DISTRICT, SRI LANKA.</a:t>
            </a:r>
          </a:p>
        </p:txBody>
      </p:sp>
      <p:sp>
        <p:nvSpPr>
          <p:cNvPr id="5" name="TextBox 4">
            <a:extLst>
              <a:ext uri="{FF2B5EF4-FFF2-40B4-BE49-F238E27FC236}">
                <a16:creationId xmlns:a16="http://schemas.microsoft.com/office/drawing/2014/main" id="{73CDB5E1-1D8E-549A-C36A-5FCDE641B7BA}"/>
              </a:ext>
            </a:extLst>
          </p:cNvPr>
          <p:cNvSpPr txBox="1"/>
          <p:nvPr/>
        </p:nvSpPr>
        <p:spPr>
          <a:xfrm>
            <a:off x="3469341" y="4787153"/>
            <a:ext cx="4787153" cy="1015663"/>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By Mary </a:t>
            </a:r>
            <a:r>
              <a:rPr lang="en-US" sz="2000" dirty="0" err="1">
                <a:latin typeface="Times New Roman" panose="02020603050405020304" pitchFamily="18" charset="0"/>
                <a:cs typeface="Times New Roman" panose="02020603050405020304" pitchFamily="18" charset="0"/>
              </a:rPr>
              <a:t>Shanmathi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Uthayaraj</a:t>
            </a: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Faculty of Life &amp; Health Sciences</a:t>
            </a:r>
          </a:p>
          <a:p>
            <a:pPr algn="ctr"/>
            <a:r>
              <a:rPr lang="en-US" sz="2000" dirty="0">
                <a:latin typeface="Times New Roman" panose="02020603050405020304" pitchFamily="18" charset="0"/>
                <a:cs typeface="Times New Roman" panose="02020603050405020304" pitchFamily="18" charset="0"/>
              </a:rPr>
              <a:t>Management and Science Institute</a:t>
            </a:r>
          </a:p>
        </p:txBody>
      </p:sp>
    </p:spTree>
    <p:extLst>
      <p:ext uri="{BB962C8B-B14F-4D97-AF65-F5344CB8AC3E}">
        <p14:creationId xmlns:p14="http://schemas.microsoft.com/office/powerpoint/2010/main" val="2856177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3FFD6-52C8-07DF-B65B-9451639DD062}"/>
              </a:ext>
            </a:extLst>
          </p:cNvPr>
          <p:cNvSpPr>
            <a:spLocks noGrp="1"/>
          </p:cNvSpPr>
          <p:nvPr>
            <p:ph type="title"/>
          </p:nvPr>
        </p:nvSpPr>
        <p:spPr>
          <a:xfrm>
            <a:off x="860612" y="1545383"/>
            <a:ext cx="2962835" cy="579253"/>
          </a:xfrm>
        </p:spPr>
        <p:txBody>
          <a:bodyPr/>
          <a:lstStyle/>
          <a:p>
            <a:pPr algn="l"/>
            <a:r>
              <a:rPr lang="en-US" sz="3200" b="1"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55AE78C0-4BF5-AC81-81EA-7E87FAA92221}"/>
              </a:ext>
            </a:extLst>
          </p:cNvPr>
          <p:cNvSpPr>
            <a:spLocks noGrp="1"/>
          </p:cNvSpPr>
          <p:nvPr>
            <p:ph idx="1"/>
          </p:nvPr>
        </p:nvSpPr>
        <p:spPr>
          <a:xfrm>
            <a:off x="860612" y="2487705"/>
            <a:ext cx="10367682" cy="4141695"/>
          </a:xfrm>
        </p:spPr>
        <p:txBody>
          <a:bodyPr/>
          <a:lstStyle/>
          <a:p>
            <a:pPr marL="0" indent="0">
              <a:buNone/>
            </a:pPr>
            <a:r>
              <a:rPr lang="en-US" sz="2800" dirty="0">
                <a:latin typeface="Times New Roman" panose="02020603050405020304" pitchFamily="18" charset="0"/>
                <a:cs typeface="Times New Roman" panose="02020603050405020304" pitchFamily="18" charset="0"/>
              </a:rPr>
              <a:t>Chapter 1 – Introduction</a:t>
            </a:r>
          </a:p>
          <a:p>
            <a:pPr marL="0" indent="0">
              <a:buNone/>
            </a:pPr>
            <a:r>
              <a:rPr lang="en-US" sz="2800" dirty="0">
                <a:latin typeface="Times New Roman" panose="02020603050405020304" pitchFamily="18" charset="0"/>
                <a:cs typeface="Times New Roman" panose="02020603050405020304" pitchFamily="18" charset="0"/>
              </a:rPr>
              <a:t>Chapter 2 – Research Methodology</a:t>
            </a:r>
          </a:p>
          <a:p>
            <a:pPr marL="0" indent="0">
              <a:buNone/>
            </a:pPr>
            <a:r>
              <a:rPr lang="en-US" sz="2800" dirty="0">
                <a:latin typeface="Times New Roman" panose="02020603050405020304" pitchFamily="18" charset="0"/>
                <a:cs typeface="Times New Roman" panose="02020603050405020304" pitchFamily="18" charset="0"/>
              </a:rPr>
              <a:t>Chapter 3 – Results</a:t>
            </a:r>
          </a:p>
          <a:p>
            <a:pPr marL="0" indent="0">
              <a:buNone/>
            </a:pPr>
            <a:r>
              <a:rPr lang="en-US" sz="2800" dirty="0">
                <a:latin typeface="Times New Roman" panose="02020603050405020304" pitchFamily="18" charset="0"/>
                <a:cs typeface="Times New Roman" panose="02020603050405020304" pitchFamily="18" charset="0"/>
              </a:rPr>
              <a:t>Chapter 4 – Discussion</a:t>
            </a:r>
          </a:p>
          <a:p>
            <a:pPr marL="0" indent="0">
              <a:buNone/>
            </a:pPr>
            <a:r>
              <a:rPr lang="en-US" sz="2800" dirty="0">
                <a:latin typeface="Times New Roman" panose="02020603050405020304" pitchFamily="18" charset="0"/>
                <a:cs typeface="Times New Roman" panose="02020603050405020304" pitchFamily="18" charset="0"/>
              </a:rPr>
              <a:t>Chapter 5 – Conclusion and Recommendation</a:t>
            </a:r>
          </a:p>
        </p:txBody>
      </p:sp>
    </p:spTree>
    <p:extLst>
      <p:ext uri="{BB962C8B-B14F-4D97-AF65-F5344CB8AC3E}">
        <p14:creationId xmlns:p14="http://schemas.microsoft.com/office/powerpoint/2010/main" val="1336650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86CB3-607C-E0E4-8C60-F0D7BF47129A}"/>
              </a:ext>
            </a:extLst>
          </p:cNvPr>
          <p:cNvSpPr>
            <a:spLocks noGrp="1"/>
          </p:cNvSpPr>
          <p:nvPr>
            <p:ph type="title"/>
          </p:nvPr>
        </p:nvSpPr>
        <p:spPr>
          <a:xfrm>
            <a:off x="3558988" y="995082"/>
            <a:ext cx="5074024" cy="706997"/>
          </a:xfrm>
        </p:spPr>
        <p:txBody>
          <a:bodyPr/>
          <a:lstStyle/>
          <a:p>
            <a:pPr algn="l"/>
            <a:r>
              <a:rPr lang="en-US" sz="3200" b="1" dirty="0">
                <a:latin typeface="Times New Roman" panose="02020603050405020304" pitchFamily="18" charset="0"/>
                <a:cs typeface="Times New Roman" panose="02020603050405020304" pitchFamily="18" charset="0"/>
              </a:rPr>
              <a:t>Chapter 1 : Introduction</a:t>
            </a:r>
          </a:p>
        </p:txBody>
      </p:sp>
      <p:sp>
        <p:nvSpPr>
          <p:cNvPr id="3" name="Content Placeholder 2">
            <a:extLst>
              <a:ext uri="{FF2B5EF4-FFF2-40B4-BE49-F238E27FC236}">
                <a16:creationId xmlns:a16="http://schemas.microsoft.com/office/drawing/2014/main" id="{9BB49C37-917D-5CB5-2E32-8E4FC54FFD68}"/>
              </a:ext>
            </a:extLst>
          </p:cNvPr>
          <p:cNvSpPr>
            <a:spLocks noGrp="1"/>
          </p:cNvSpPr>
          <p:nvPr>
            <p:ph idx="1"/>
          </p:nvPr>
        </p:nvSpPr>
        <p:spPr>
          <a:xfrm>
            <a:off x="609600" y="2245661"/>
            <a:ext cx="8570259" cy="3012140"/>
          </a:xfrm>
        </p:spPr>
        <p:txBody>
          <a:bodyPr/>
          <a:lstStyle/>
          <a:p>
            <a:r>
              <a:rPr lang="en-US" sz="2800" dirty="0">
                <a:latin typeface="Times New Roman" panose="02020603050405020304" pitchFamily="18" charset="0"/>
                <a:cs typeface="Times New Roman" panose="02020603050405020304" pitchFamily="18" charset="0"/>
              </a:rPr>
              <a:t>Background of the study </a:t>
            </a:r>
          </a:p>
          <a:p>
            <a:r>
              <a:rPr lang="en-US" sz="2800" dirty="0">
                <a:latin typeface="Times New Roman" panose="02020603050405020304" pitchFamily="18" charset="0"/>
                <a:cs typeface="Times New Roman" panose="02020603050405020304" pitchFamily="18" charset="0"/>
              </a:rPr>
              <a:t>Justification </a:t>
            </a:r>
          </a:p>
          <a:p>
            <a:r>
              <a:rPr lang="en-US" sz="2800" dirty="0">
                <a:latin typeface="Times New Roman" panose="02020603050405020304" pitchFamily="18" charset="0"/>
                <a:cs typeface="Times New Roman" panose="02020603050405020304" pitchFamily="18" charset="0"/>
              </a:rPr>
              <a:t>Objectives of the Study </a:t>
            </a:r>
          </a:p>
          <a:p>
            <a:r>
              <a:rPr lang="en-US" sz="2800" dirty="0">
                <a:latin typeface="Times New Roman" panose="02020603050405020304" pitchFamily="18" charset="0"/>
                <a:cs typeface="Times New Roman" panose="02020603050405020304" pitchFamily="18" charset="0"/>
              </a:rPr>
              <a:t>Limitations of the Study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189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5B4AA-915F-FBE0-3296-E0C77EFC5D3D}"/>
              </a:ext>
            </a:extLst>
          </p:cNvPr>
          <p:cNvSpPr>
            <a:spLocks noGrp="1"/>
          </p:cNvSpPr>
          <p:nvPr>
            <p:ph type="title"/>
          </p:nvPr>
        </p:nvSpPr>
        <p:spPr>
          <a:xfrm>
            <a:off x="2837329" y="731836"/>
            <a:ext cx="5921188" cy="1164197"/>
          </a:xfrm>
        </p:spPr>
        <p:txBody>
          <a:bodyPr/>
          <a:lstStyle/>
          <a:p>
            <a:r>
              <a:rPr lang="en-US" sz="3200" b="1" dirty="0">
                <a:latin typeface="Times New Roman" panose="02020603050405020304" pitchFamily="18" charset="0"/>
                <a:cs typeface="Times New Roman" panose="02020603050405020304" pitchFamily="18" charset="0"/>
              </a:rPr>
              <a:t>Chapter 1: Introduction</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Background of the Study</a:t>
            </a:r>
          </a:p>
        </p:txBody>
      </p:sp>
      <p:sp>
        <p:nvSpPr>
          <p:cNvPr id="3" name="Content Placeholder 2">
            <a:extLst>
              <a:ext uri="{FF2B5EF4-FFF2-40B4-BE49-F238E27FC236}">
                <a16:creationId xmlns:a16="http://schemas.microsoft.com/office/drawing/2014/main" id="{91817C17-F1AD-30B6-D49B-E28704030BEA}"/>
              </a:ext>
            </a:extLst>
          </p:cNvPr>
          <p:cNvSpPr>
            <a:spLocks noGrp="1"/>
          </p:cNvSpPr>
          <p:nvPr>
            <p:ph idx="1"/>
          </p:nvPr>
        </p:nvSpPr>
        <p:spPr>
          <a:xfrm>
            <a:off x="829235" y="2178423"/>
            <a:ext cx="10533529" cy="3845860"/>
          </a:xfrm>
        </p:spPr>
        <p:txBody>
          <a:bodyPr/>
          <a:lstStyle/>
          <a:p>
            <a:pPr algn="just"/>
            <a:r>
              <a:rPr lang="en-US" sz="2000" dirty="0">
                <a:latin typeface="Times New Roman" panose="02020603050405020304" pitchFamily="18" charset="0"/>
                <a:cs typeface="Times New Roman" panose="02020603050405020304" pitchFamily="18" charset="0"/>
              </a:rPr>
              <a:t>In March 2020, the World Health Organization declared COVID-19 a pandemic. Video conferencing has become a crucial tool for education, healthcare, and business. The local index case emerged almost after 1½ months on 11 March 2020.</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Sri Lanka's public sector also introduced WFH to ensure a smooth functioning of public services.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Lack of focus, motivation and productivity due to distractions in home working environment, conflicts in work and household responsibilities are the disadvantages of WFH arrangements.</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622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5E370-03BF-44F1-A14B-801DD6AB99EC}"/>
              </a:ext>
            </a:extLst>
          </p:cNvPr>
          <p:cNvSpPr>
            <a:spLocks noGrp="1"/>
          </p:cNvSpPr>
          <p:nvPr>
            <p:ph type="title"/>
          </p:nvPr>
        </p:nvSpPr>
        <p:spPr>
          <a:xfrm>
            <a:off x="3458135" y="731836"/>
            <a:ext cx="5275729" cy="801127"/>
          </a:xfrm>
        </p:spPr>
        <p:txBody>
          <a:bodyPr/>
          <a:lstStyle/>
          <a:p>
            <a:r>
              <a:rPr lang="en-US" sz="3200" b="1" dirty="0">
                <a:latin typeface="Times New Roman" panose="02020603050405020304" pitchFamily="18" charset="0"/>
                <a:cs typeface="Times New Roman" panose="02020603050405020304" pitchFamily="18" charset="0"/>
              </a:rPr>
              <a:t>Background of the Study</a:t>
            </a:r>
          </a:p>
        </p:txBody>
      </p:sp>
      <p:sp>
        <p:nvSpPr>
          <p:cNvPr id="3" name="Content Placeholder 2">
            <a:extLst>
              <a:ext uri="{FF2B5EF4-FFF2-40B4-BE49-F238E27FC236}">
                <a16:creationId xmlns:a16="http://schemas.microsoft.com/office/drawing/2014/main" id="{D2ACA10C-36FD-1FB7-51A6-F874378514B3}"/>
              </a:ext>
            </a:extLst>
          </p:cNvPr>
          <p:cNvSpPr>
            <a:spLocks noGrp="1"/>
          </p:cNvSpPr>
          <p:nvPr>
            <p:ph idx="1"/>
          </p:nvPr>
        </p:nvSpPr>
        <p:spPr>
          <a:xfrm>
            <a:off x="609600" y="1788459"/>
            <a:ext cx="10972800" cy="4525963"/>
          </a:xfrm>
        </p:spPr>
        <p:txBody>
          <a:bodyPr/>
          <a:lstStyle/>
          <a:p>
            <a:pPr algn="just"/>
            <a:r>
              <a:rPr lang="en-US" sz="2000" dirty="0">
                <a:latin typeface="Times New Roman" panose="02020603050405020304" pitchFamily="18" charset="0"/>
                <a:cs typeface="Times New Roman" panose="02020603050405020304" pitchFamily="18" charset="0"/>
              </a:rPr>
              <a:t>A standard questionnaire was used to assess participant weariness and exhaustion levels while working from home, mostly when participating in video conferences. Several questions on domains of zoom exhaustion and fatigue were included in the standard questionnaire (General, Visual, Social, Motivational, Emotional).</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Zoom Fatigue is a feeling of exhaustion from participating in video conference calls. These include extraordinary amount of eye gaze at a close distance, limited physical mobility and constant viewing of self-video. Early research demonstrated that video conferencing increased cognitive load, compared to voice calls.</a:t>
            </a:r>
          </a:p>
        </p:txBody>
      </p:sp>
    </p:spTree>
    <p:extLst>
      <p:ext uri="{BB962C8B-B14F-4D97-AF65-F5344CB8AC3E}">
        <p14:creationId xmlns:p14="http://schemas.microsoft.com/office/powerpoint/2010/main" val="2814148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4898D-2993-6641-1BAD-2B940731DC9F}"/>
              </a:ext>
            </a:extLst>
          </p:cNvPr>
          <p:cNvSpPr>
            <a:spLocks noGrp="1"/>
          </p:cNvSpPr>
          <p:nvPr>
            <p:ph type="title"/>
          </p:nvPr>
        </p:nvSpPr>
        <p:spPr>
          <a:xfrm>
            <a:off x="3612776" y="718392"/>
            <a:ext cx="4966447" cy="881809"/>
          </a:xfrm>
        </p:spPr>
        <p:txBody>
          <a:bodyPr/>
          <a:lstStyle/>
          <a:p>
            <a:r>
              <a:rPr lang="en-US" sz="3200" b="1" dirty="0">
                <a:latin typeface="Times New Roman" panose="02020603050405020304" pitchFamily="18" charset="0"/>
                <a:cs typeface="Times New Roman" panose="02020603050405020304" pitchFamily="18" charset="0"/>
              </a:rPr>
              <a:t>Justification</a:t>
            </a:r>
          </a:p>
        </p:txBody>
      </p:sp>
      <p:sp>
        <p:nvSpPr>
          <p:cNvPr id="3" name="Content Placeholder 2">
            <a:extLst>
              <a:ext uri="{FF2B5EF4-FFF2-40B4-BE49-F238E27FC236}">
                <a16:creationId xmlns:a16="http://schemas.microsoft.com/office/drawing/2014/main" id="{E8372CF7-11D1-CB8A-BCF3-CE199152E5C9}"/>
              </a:ext>
            </a:extLst>
          </p:cNvPr>
          <p:cNvSpPr>
            <a:spLocks noGrp="1"/>
          </p:cNvSpPr>
          <p:nvPr>
            <p:ph idx="1"/>
          </p:nvPr>
        </p:nvSpPr>
        <p:spPr>
          <a:xfrm>
            <a:off x="703729" y="1896036"/>
            <a:ext cx="10972800" cy="4525963"/>
          </a:xfrm>
        </p:spPr>
        <p:txBody>
          <a:bodyPr/>
          <a:lstStyle/>
          <a:p>
            <a:pPr algn="just"/>
            <a:r>
              <a:rPr lang="en-US" sz="2000" dirty="0">
                <a:latin typeface="Times New Roman" panose="02020603050405020304" pitchFamily="18" charset="0"/>
                <a:cs typeface="Times New Roman" panose="02020603050405020304" pitchFamily="18" charset="0"/>
              </a:rPr>
              <a:t> Today, corporate giants are shifting work culture from 'office based set up' to 'work from home' or 'remotely working' due to the volatility of the markets.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 thorough research should be conducted to analyze the critical issues, it's cause and possible solution. Laziness, ignorance and neglection are some of the frequently spoken issues within the corporates in Colombo.</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This study will help to analyze if better awareness about work from home can improve the behavioral changes and fatigues in employees. The data shows that working from home is still not the ideal work environment for most employees.</a:t>
            </a:r>
          </a:p>
        </p:txBody>
      </p:sp>
    </p:spTree>
    <p:extLst>
      <p:ext uri="{BB962C8B-B14F-4D97-AF65-F5344CB8AC3E}">
        <p14:creationId xmlns:p14="http://schemas.microsoft.com/office/powerpoint/2010/main" val="567158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B60EF-983A-DA4C-7DF5-4415E1D4D25A}"/>
              </a:ext>
            </a:extLst>
          </p:cNvPr>
          <p:cNvSpPr>
            <a:spLocks noGrp="1"/>
          </p:cNvSpPr>
          <p:nvPr>
            <p:ph type="title"/>
          </p:nvPr>
        </p:nvSpPr>
        <p:spPr>
          <a:xfrm>
            <a:off x="3686735" y="893204"/>
            <a:ext cx="4818529" cy="706997"/>
          </a:xfrm>
        </p:spPr>
        <p:txBody>
          <a:bodyPr/>
          <a:lstStyle/>
          <a:p>
            <a:r>
              <a:rPr lang="en-US" sz="3200" b="1" dirty="0">
                <a:latin typeface="Times New Roman" panose="02020603050405020304" pitchFamily="18" charset="0"/>
                <a:cs typeface="Times New Roman" panose="02020603050405020304" pitchFamily="18" charset="0"/>
              </a:rPr>
              <a:t>Objectives of the Study</a:t>
            </a:r>
          </a:p>
        </p:txBody>
      </p:sp>
      <p:sp>
        <p:nvSpPr>
          <p:cNvPr id="3" name="Content Placeholder 2">
            <a:extLst>
              <a:ext uri="{FF2B5EF4-FFF2-40B4-BE49-F238E27FC236}">
                <a16:creationId xmlns:a16="http://schemas.microsoft.com/office/drawing/2014/main" id="{2744CAB4-3CD1-0621-2AD0-E1C48A2BA264}"/>
              </a:ext>
            </a:extLst>
          </p:cNvPr>
          <p:cNvSpPr>
            <a:spLocks noGrp="1"/>
          </p:cNvSpPr>
          <p:nvPr>
            <p:ph idx="1"/>
          </p:nvPr>
        </p:nvSpPr>
        <p:spPr/>
        <p:txBody>
          <a:bodyPr/>
          <a:lstStyle/>
          <a:p>
            <a:pPr marL="0" indent="0">
              <a:buNone/>
            </a:pPr>
            <a:r>
              <a:rPr lang="en-US" sz="2400" b="1" dirty="0">
                <a:latin typeface="Times New Roman" panose="02020603050405020304" pitchFamily="18" charset="0"/>
                <a:cs typeface="Times New Roman" panose="02020603050405020304" pitchFamily="18" charset="0"/>
              </a:rPr>
              <a:t>General Objective</a:t>
            </a:r>
          </a:p>
          <a:p>
            <a:pPr marL="0" indent="0">
              <a:buNone/>
            </a:pPr>
            <a:endParaRPr lang="en-US" sz="2400" b="1" dirty="0">
              <a:latin typeface="Times New Roman" panose="02020603050405020304" pitchFamily="18" charset="0"/>
              <a:cs typeface="Times New Roman" panose="02020603050405020304" pitchFamily="18" charset="0"/>
            </a:endParaRPr>
          </a:p>
          <a:p>
            <a:pPr algn="just"/>
            <a:r>
              <a:rPr lang="en-US" sz="2000" dirty="0">
                <a:effectLst/>
                <a:latin typeface="Times New Roman" panose="02020603050405020304" pitchFamily="18" charset="0"/>
                <a:ea typeface="Calibri" panose="020F0502020204030204" pitchFamily="34" charset="0"/>
                <a:cs typeface="Latha" panose="020B0604020202020204" pitchFamily="34" charset="0"/>
              </a:rPr>
              <a:t>To assess the zoom exhaustion and fatigue among the private sector employees who are working from home in Colombo District, Sri Lanka. </a:t>
            </a:r>
            <a:endParaRPr lang="en-US" sz="20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1279204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3AD4A-AED9-E2B1-F1B9-4D1C85C951C0}"/>
              </a:ext>
            </a:extLst>
          </p:cNvPr>
          <p:cNvSpPr>
            <a:spLocks noGrp="1"/>
          </p:cNvSpPr>
          <p:nvPr>
            <p:ph type="title"/>
          </p:nvPr>
        </p:nvSpPr>
        <p:spPr>
          <a:xfrm>
            <a:off x="3424517" y="704945"/>
            <a:ext cx="5342965" cy="895256"/>
          </a:xfrm>
        </p:spPr>
        <p:txBody>
          <a:bodyPr/>
          <a:lstStyle/>
          <a:p>
            <a:r>
              <a:rPr lang="en-US" sz="3200" b="1" dirty="0">
                <a:latin typeface="Times New Roman" panose="02020603050405020304" pitchFamily="18" charset="0"/>
                <a:cs typeface="Times New Roman" panose="02020603050405020304" pitchFamily="18" charset="0"/>
              </a:rPr>
              <a:t>Objectives of the Study</a:t>
            </a:r>
            <a:endParaRPr lang="en-US" sz="3200" dirty="0"/>
          </a:p>
        </p:txBody>
      </p:sp>
      <p:sp>
        <p:nvSpPr>
          <p:cNvPr id="3" name="Content Placeholder 2">
            <a:extLst>
              <a:ext uri="{FF2B5EF4-FFF2-40B4-BE49-F238E27FC236}">
                <a16:creationId xmlns:a16="http://schemas.microsoft.com/office/drawing/2014/main" id="{A9C135E8-8DD7-B14D-F1D4-D0A33373F43A}"/>
              </a:ext>
            </a:extLst>
          </p:cNvPr>
          <p:cNvSpPr>
            <a:spLocks noGrp="1"/>
          </p:cNvSpPr>
          <p:nvPr>
            <p:ph idx="1"/>
          </p:nvPr>
        </p:nvSpPr>
        <p:spPr/>
        <p:txBody>
          <a:bodyPr/>
          <a:lstStyle/>
          <a:p>
            <a:pPr marL="0" indent="0">
              <a:buNone/>
            </a:pPr>
            <a:r>
              <a:rPr lang="en-US" sz="2400" b="1" dirty="0">
                <a:latin typeface="Times New Roman" panose="02020603050405020304" pitchFamily="18" charset="0"/>
                <a:cs typeface="Times New Roman" panose="02020603050405020304" pitchFamily="18" charset="0"/>
              </a:rPr>
              <a:t>Specific Objectives</a:t>
            </a:r>
          </a:p>
          <a:p>
            <a:pPr marL="0" indent="0">
              <a:buNone/>
            </a:pPr>
            <a:endParaRPr lang="en-US" sz="2400" b="1" dirty="0">
              <a:latin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tabLst>
                <a:tab pos="1445895"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To assess the level of zoom exhaustion and fatigue among the private sector employees working from home in Colombo District, Sri Lanka.</a:t>
            </a:r>
          </a:p>
          <a:p>
            <a:pPr marL="342900" marR="0" lvl="0" indent="-342900" algn="just">
              <a:lnSpc>
                <a:spcPct val="115000"/>
              </a:lnSpc>
              <a:spcBef>
                <a:spcPts val="0"/>
              </a:spcBef>
              <a:spcAft>
                <a:spcPts val="800"/>
              </a:spcAft>
              <a:buFont typeface="Symbol" panose="05050102010706020507" pitchFamily="18" charset="2"/>
              <a:buChar char=""/>
              <a:tabLst>
                <a:tab pos="1445895"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To determine the factors associated with zoom exhaustion and fatigue among private-sector employees working from home in Colombo District, Sri Lanka.</a:t>
            </a:r>
          </a:p>
          <a:p>
            <a:pPr marL="0" marR="0" indent="0">
              <a:lnSpc>
                <a:spcPct val="115000"/>
              </a:lnSpc>
              <a:spcBef>
                <a:spcPts val="0"/>
              </a:spcBef>
              <a:spcAft>
                <a:spcPts val="800"/>
              </a:spcAft>
              <a:buNone/>
              <a:tabLst>
                <a:tab pos="1445895" algn="l"/>
              </a:tabLst>
            </a:pPr>
            <a:endParaRPr lang="en-US" sz="18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3712150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47A9D-91A6-550C-9233-5DCE4DF2AD98}"/>
              </a:ext>
            </a:extLst>
          </p:cNvPr>
          <p:cNvSpPr>
            <a:spLocks noGrp="1"/>
          </p:cNvSpPr>
          <p:nvPr>
            <p:ph type="title"/>
          </p:nvPr>
        </p:nvSpPr>
        <p:spPr>
          <a:xfrm>
            <a:off x="2974041" y="852862"/>
            <a:ext cx="6243918" cy="747338"/>
          </a:xfrm>
        </p:spPr>
        <p:txBody>
          <a:bodyPr/>
          <a:lstStyle/>
          <a:p>
            <a:r>
              <a:rPr lang="en-US" sz="3200" b="1" dirty="0">
                <a:latin typeface="Times New Roman" panose="02020603050405020304" pitchFamily="18" charset="0"/>
                <a:cs typeface="Times New Roman" panose="02020603050405020304" pitchFamily="18" charset="0"/>
              </a:rPr>
              <a:t>Limitations of the Study</a:t>
            </a:r>
          </a:p>
        </p:txBody>
      </p:sp>
      <p:sp>
        <p:nvSpPr>
          <p:cNvPr id="3" name="Content Placeholder 2">
            <a:extLst>
              <a:ext uri="{FF2B5EF4-FFF2-40B4-BE49-F238E27FC236}">
                <a16:creationId xmlns:a16="http://schemas.microsoft.com/office/drawing/2014/main" id="{108257E4-9A93-028D-227E-FAF31E42C214}"/>
              </a:ext>
            </a:extLst>
          </p:cNvPr>
          <p:cNvSpPr>
            <a:spLocks noGrp="1"/>
          </p:cNvSpPr>
          <p:nvPr>
            <p:ph idx="1"/>
          </p:nvPr>
        </p:nvSpPr>
        <p:spPr>
          <a:xfrm>
            <a:off x="541361" y="2453065"/>
            <a:ext cx="10349552" cy="4404935"/>
          </a:xfrm>
        </p:spPr>
        <p:txBody>
          <a:bodyPr/>
          <a:lstStyle/>
          <a:p>
            <a:pPr algn="just"/>
            <a:r>
              <a:rPr lang="en-US" sz="2000" dirty="0">
                <a:latin typeface="Times New Roman" panose="02020603050405020304" pitchFamily="18" charset="0"/>
                <a:cs typeface="Times New Roman" panose="02020603050405020304" pitchFamily="18" charset="0"/>
              </a:rPr>
              <a:t>The study is limited to a particular province in Sri Lanka where the survey does not represent the entire Western Province.</a:t>
            </a:r>
          </a:p>
          <a:p>
            <a:pPr algn="just"/>
            <a:r>
              <a:rPr lang="en-US" sz="2000" dirty="0">
                <a:latin typeface="Times New Roman" panose="02020603050405020304" pitchFamily="18" charset="0"/>
                <a:cs typeface="Times New Roman" panose="02020603050405020304" pitchFamily="18" charset="0"/>
              </a:rPr>
              <a:t>This cross-sectional survey method may not be able to bring to a conclusion or an association, because the association showed the p-value to be more than 0.05. This is due to the less sample size.</a:t>
            </a:r>
          </a:p>
          <a:p>
            <a:pPr algn="just"/>
            <a:r>
              <a:rPr lang="en-US" sz="2000" dirty="0">
                <a:latin typeface="Times New Roman" panose="02020603050405020304" pitchFamily="18" charset="0"/>
                <a:cs typeface="Times New Roman" panose="02020603050405020304" pitchFamily="18" charset="0"/>
              </a:rPr>
              <a:t>There has been a limited number of respondents for the questionnaire to be reached.</a:t>
            </a:r>
          </a:p>
        </p:txBody>
      </p:sp>
    </p:spTree>
    <p:extLst>
      <p:ext uri="{BB962C8B-B14F-4D97-AF65-F5344CB8AC3E}">
        <p14:creationId xmlns:p14="http://schemas.microsoft.com/office/powerpoint/2010/main" val="66992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269F3-36F3-154D-8332-49D172E9930F}"/>
              </a:ext>
            </a:extLst>
          </p:cNvPr>
          <p:cNvSpPr>
            <a:spLocks noGrp="1"/>
          </p:cNvSpPr>
          <p:nvPr>
            <p:ph type="title"/>
          </p:nvPr>
        </p:nvSpPr>
        <p:spPr>
          <a:xfrm>
            <a:off x="2781868" y="960439"/>
            <a:ext cx="6628263" cy="639762"/>
          </a:xfrm>
        </p:spPr>
        <p:txBody>
          <a:bodyPr/>
          <a:lstStyle/>
          <a:p>
            <a:r>
              <a:rPr lang="en-US" sz="3200" b="1" dirty="0">
                <a:latin typeface="Times New Roman" panose="02020603050405020304" pitchFamily="18" charset="0"/>
                <a:cs typeface="Times New Roman" panose="02020603050405020304" pitchFamily="18" charset="0"/>
              </a:rPr>
              <a:t>Chapter 2 : Research Methodology</a:t>
            </a:r>
          </a:p>
        </p:txBody>
      </p:sp>
      <p:sp>
        <p:nvSpPr>
          <p:cNvPr id="3" name="Content Placeholder 2">
            <a:extLst>
              <a:ext uri="{FF2B5EF4-FFF2-40B4-BE49-F238E27FC236}">
                <a16:creationId xmlns:a16="http://schemas.microsoft.com/office/drawing/2014/main" id="{E0558F0A-A8EB-0687-655D-52048F22FD41}"/>
              </a:ext>
            </a:extLst>
          </p:cNvPr>
          <p:cNvSpPr>
            <a:spLocks noGrp="1"/>
          </p:cNvSpPr>
          <p:nvPr>
            <p:ph idx="1"/>
          </p:nvPr>
        </p:nvSpPr>
        <p:spPr/>
        <p:txBody>
          <a:bodyPr/>
          <a:lstStyle/>
          <a:p>
            <a:r>
              <a:rPr lang="en-US" sz="2000" b="1" dirty="0">
                <a:latin typeface="Times New Roman" panose="02020603050405020304" pitchFamily="18" charset="0"/>
                <a:cs typeface="Times New Roman" panose="02020603050405020304" pitchFamily="18" charset="0"/>
              </a:rPr>
              <a:t>Study Design</a:t>
            </a:r>
            <a:r>
              <a:rPr lang="en-US" sz="2000" dirty="0">
                <a:latin typeface="Times New Roman" panose="02020603050405020304" pitchFamily="18" charset="0"/>
                <a:cs typeface="Times New Roman" panose="02020603050405020304" pitchFamily="18" charset="0"/>
              </a:rPr>
              <a:t> - A descriptive cross-sectional online survey was conducted.</a:t>
            </a:r>
          </a:p>
          <a:p>
            <a:r>
              <a:rPr lang="en-US" sz="2000" b="1" dirty="0">
                <a:latin typeface="Times New Roman" panose="02020603050405020304" pitchFamily="18" charset="0"/>
                <a:cs typeface="Times New Roman" panose="02020603050405020304" pitchFamily="18" charset="0"/>
              </a:rPr>
              <a:t>Study Setting </a:t>
            </a:r>
            <a:r>
              <a:rPr lang="en-US" sz="2000" dirty="0">
                <a:latin typeface="Times New Roman" panose="02020603050405020304" pitchFamily="18" charset="0"/>
                <a:cs typeface="Times New Roman" panose="02020603050405020304" pitchFamily="18" charset="0"/>
              </a:rPr>
              <a:t>- </a:t>
            </a:r>
            <a:r>
              <a:rPr lang="en-US" sz="20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An online survey where the questionnaire will be shared through email and other social media platforms to be accessed by the private sector employees working from home in Colombo District, Sri Lanka.</a:t>
            </a:r>
          </a:p>
          <a:p>
            <a:r>
              <a:rPr lang="en-US" sz="2000" b="1" dirty="0">
                <a:solidFill>
                  <a:srgbClr val="000000"/>
                </a:solidFill>
                <a:latin typeface="Times New Roman" panose="02020603050405020304" pitchFamily="18" charset="0"/>
                <a:ea typeface="Calibri" panose="020F0502020204030204" pitchFamily="34" charset="0"/>
                <a:cs typeface="Latha" panose="020B0604020202020204" pitchFamily="34" charset="0"/>
              </a:rPr>
              <a:t>Study Period </a:t>
            </a:r>
            <a:r>
              <a:rPr lang="en-US" sz="2000" dirty="0">
                <a:solidFill>
                  <a:srgbClr val="000000"/>
                </a:solidFill>
                <a:latin typeface="Times New Roman" panose="02020603050405020304" pitchFamily="18" charset="0"/>
                <a:ea typeface="Calibri" panose="020F0502020204030204" pitchFamily="34" charset="0"/>
                <a:cs typeface="Latha" panose="020B0604020202020204" pitchFamily="34" charset="0"/>
              </a:rPr>
              <a:t>- </a:t>
            </a:r>
            <a:r>
              <a:rPr lang="en-US" sz="20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For a period of 10 months from October 2021 to June 2022.</a:t>
            </a:r>
          </a:p>
          <a:p>
            <a:r>
              <a:rPr lang="en-US" sz="2000" b="1" dirty="0">
                <a:solidFill>
                  <a:srgbClr val="000000"/>
                </a:solidFill>
                <a:latin typeface="Times New Roman" panose="02020603050405020304" pitchFamily="18" charset="0"/>
                <a:ea typeface="Calibri" panose="020F0502020204030204" pitchFamily="34" charset="0"/>
                <a:cs typeface="Latha" panose="020B0604020202020204" pitchFamily="34" charset="0"/>
              </a:rPr>
              <a:t>Sampling Technique </a:t>
            </a:r>
            <a:r>
              <a:rPr lang="en-US" sz="2000" dirty="0">
                <a:solidFill>
                  <a:srgbClr val="000000"/>
                </a:solidFill>
                <a:latin typeface="Times New Roman" panose="02020603050405020304" pitchFamily="18" charset="0"/>
                <a:ea typeface="Calibri" panose="020F0502020204030204" pitchFamily="34" charset="0"/>
                <a:cs typeface="Latha" panose="020B0604020202020204" pitchFamily="34" charset="0"/>
              </a:rPr>
              <a:t>- </a:t>
            </a:r>
            <a:r>
              <a:rPr lang="en-US" sz="2000" dirty="0">
                <a:latin typeface="Times New Roman" panose="02020603050405020304" pitchFamily="18" charset="0"/>
                <a:cs typeface="Times New Roman" panose="02020603050405020304" pitchFamily="18" charset="0"/>
              </a:rPr>
              <a:t>To reach participants, convenience sampling was used.</a:t>
            </a:r>
          </a:p>
          <a:p>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Study Instruments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It was a self-administered, multiple choice and close-ended questionnaire. The questionnaire was developed by Google survey tool - Google Forms. survey. The questionnaire contained 34 questions.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 online questionnaire was divided into 6 parts: Introduction of the Study, Informed Consent, Socio-demographic factors, Working from home environment, Zoom exhaustion and fatigue scale and Submission of Form.</a:t>
            </a:r>
          </a:p>
        </p:txBody>
      </p:sp>
    </p:spTree>
    <p:extLst>
      <p:ext uri="{BB962C8B-B14F-4D97-AF65-F5344CB8AC3E}">
        <p14:creationId xmlns:p14="http://schemas.microsoft.com/office/powerpoint/2010/main" val="168421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636AB-BBF1-F009-609C-8BCBE9D87C52}"/>
              </a:ext>
            </a:extLst>
          </p:cNvPr>
          <p:cNvSpPr>
            <a:spLocks noGrp="1"/>
          </p:cNvSpPr>
          <p:nvPr>
            <p:ph type="title"/>
          </p:nvPr>
        </p:nvSpPr>
        <p:spPr>
          <a:xfrm>
            <a:off x="2529385" y="851257"/>
            <a:ext cx="7133230" cy="748944"/>
          </a:xfrm>
        </p:spPr>
        <p:txBody>
          <a:bodyPr/>
          <a:lstStyle/>
          <a:p>
            <a:r>
              <a:rPr lang="en-US" sz="3200" b="1" dirty="0">
                <a:latin typeface="Times New Roman" panose="02020603050405020304" pitchFamily="18" charset="0"/>
                <a:cs typeface="Times New Roman" panose="02020603050405020304" pitchFamily="18" charset="0"/>
              </a:rPr>
              <a:t>Chapter 2 : Research Methodology </a:t>
            </a:r>
          </a:p>
        </p:txBody>
      </p:sp>
      <p:sp>
        <p:nvSpPr>
          <p:cNvPr id="3" name="Content Placeholder 2">
            <a:extLst>
              <a:ext uri="{FF2B5EF4-FFF2-40B4-BE49-F238E27FC236}">
                <a16:creationId xmlns:a16="http://schemas.microsoft.com/office/drawing/2014/main" id="{DCF7B4BA-81D4-470F-98B3-57D64E3622D7}"/>
              </a:ext>
            </a:extLst>
          </p:cNvPr>
          <p:cNvSpPr>
            <a:spLocks noGrp="1"/>
          </p:cNvSpPr>
          <p:nvPr>
            <p:ph idx="1"/>
          </p:nvPr>
        </p:nvSpPr>
        <p:spPr/>
        <p:txBody>
          <a:bodyPr/>
          <a:lstStyle/>
          <a:p>
            <a:r>
              <a:rPr lang="en-US" sz="2000" b="1" dirty="0">
                <a:latin typeface="Times New Roman" panose="02020603050405020304" pitchFamily="18" charset="0"/>
                <a:cs typeface="Times New Roman" panose="02020603050405020304" pitchFamily="18" charset="0"/>
              </a:rPr>
              <a:t>Data Analysis</a:t>
            </a:r>
            <a:r>
              <a:rPr lang="en-US" sz="2000" dirty="0">
                <a:latin typeface="Times New Roman" panose="02020603050405020304" pitchFamily="18" charset="0"/>
                <a:cs typeface="Times New Roman" panose="02020603050405020304" pitchFamily="18" charset="0"/>
              </a:rPr>
              <a:t> - Descriptive statistical techniques like percentages were used to analyze qualitative data.</a:t>
            </a:r>
          </a:p>
          <a:p>
            <a:pPr marL="0" indent="0">
              <a:buNone/>
            </a:pPr>
            <a:r>
              <a:rPr lang="en-US" sz="2000" dirty="0">
                <a:latin typeface="Times New Roman" panose="02020603050405020304" pitchFamily="18" charset="0"/>
                <a:cs typeface="Times New Roman" panose="02020603050405020304" pitchFamily="18" charset="0"/>
              </a:rPr>
              <a:t>     Frequency, percentage, mean, and standard deviation were used in the descriptive statistical analysis.</a:t>
            </a:r>
          </a:p>
          <a:p>
            <a:pPr marL="0" indent="0">
              <a:buNone/>
            </a:pPr>
            <a:r>
              <a:rPr lang="en-US" sz="2000" dirty="0">
                <a:latin typeface="Times New Roman" panose="02020603050405020304" pitchFamily="18" charset="0"/>
                <a:cs typeface="Times New Roman" panose="02020603050405020304" pitchFamily="18" charset="0"/>
              </a:rPr>
              <a:t>     Correlation test analysis was used to find association between the dependent and independent. </a:t>
            </a:r>
          </a:p>
          <a:p>
            <a:pPr marL="0" indent="0">
              <a:buNone/>
            </a:pPr>
            <a:r>
              <a:rPr lang="en-US" sz="2000" dirty="0">
                <a:latin typeface="Times New Roman" panose="02020603050405020304" pitchFamily="18" charset="0"/>
                <a:cs typeface="Times New Roman" panose="02020603050405020304" pitchFamily="18" charset="0"/>
              </a:rPr>
              <a:t>     A significant value (p-value) of less than or equal to 0.05 was considered as significant.</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Ethical Issues And Clearance </a:t>
            </a:r>
            <a:r>
              <a:rPr lang="en-US" sz="2000" dirty="0">
                <a:latin typeface="Times New Roman" panose="02020603050405020304" pitchFamily="18" charset="0"/>
                <a:cs typeface="Times New Roman" panose="02020603050405020304" pitchFamily="18" charset="0"/>
              </a:rPr>
              <a:t>- The study was evaluated and approved in March 2022 by the Ethics Review Committee of the National Institute of Health Sciences (NIHS) – Kalutara, Sri Lanka.</a:t>
            </a:r>
          </a:p>
          <a:p>
            <a:pPr marL="0" indent="0">
              <a:buNone/>
            </a:pPr>
            <a:r>
              <a:rPr lang="en-US" sz="2000" dirty="0">
                <a:latin typeface="Times New Roman" panose="02020603050405020304" pitchFamily="18" charset="0"/>
                <a:cs typeface="Times New Roman" panose="02020603050405020304" pitchFamily="18" charset="0"/>
              </a:rPr>
              <a:t>     Online informed consent was obtained from participants.</a:t>
            </a:r>
          </a:p>
        </p:txBody>
      </p:sp>
    </p:spTree>
    <p:extLst>
      <p:ext uri="{BB962C8B-B14F-4D97-AF65-F5344CB8AC3E}">
        <p14:creationId xmlns:p14="http://schemas.microsoft.com/office/powerpoint/2010/main" val="1437229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1AF67-3CDB-D4C4-C1A5-CEC71C2AE6E2}"/>
              </a:ext>
            </a:extLst>
          </p:cNvPr>
          <p:cNvSpPr>
            <a:spLocks noGrp="1"/>
          </p:cNvSpPr>
          <p:nvPr>
            <p:ph type="title"/>
          </p:nvPr>
        </p:nvSpPr>
        <p:spPr>
          <a:xfrm>
            <a:off x="3558988" y="731836"/>
            <a:ext cx="5074024" cy="841468"/>
          </a:xfrm>
        </p:spPr>
        <p:txBody>
          <a:bodyPr/>
          <a:lstStyle/>
          <a:p>
            <a:r>
              <a:rPr lang="en-US" sz="3200" b="1" dirty="0">
                <a:latin typeface="Times New Roman" panose="02020603050405020304" pitchFamily="18" charset="0"/>
                <a:cs typeface="Times New Roman" panose="02020603050405020304" pitchFamily="18" charset="0"/>
              </a:rPr>
              <a:t>Chapter 3 : Results</a:t>
            </a:r>
          </a:p>
        </p:txBody>
      </p:sp>
      <p:sp>
        <p:nvSpPr>
          <p:cNvPr id="3" name="Content Placeholder 2">
            <a:extLst>
              <a:ext uri="{FF2B5EF4-FFF2-40B4-BE49-F238E27FC236}">
                <a16:creationId xmlns:a16="http://schemas.microsoft.com/office/drawing/2014/main" id="{B2BA6DD0-91C4-FFFB-152B-A9B724981136}"/>
              </a:ext>
            </a:extLst>
          </p:cNvPr>
          <p:cNvSpPr>
            <a:spLocks noGrp="1"/>
          </p:cNvSpPr>
          <p:nvPr>
            <p:ph idx="1"/>
          </p:nvPr>
        </p:nvSpPr>
        <p:spPr/>
        <p:txBody>
          <a:bodyPr/>
          <a:lstStyle/>
          <a:p>
            <a:pPr marL="0" indent="0">
              <a:buNone/>
            </a:pPr>
            <a:r>
              <a:rPr lang="en-US" sz="2000" b="1" dirty="0">
                <a:latin typeface="Times New Roman" panose="02020603050405020304" pitchFamily="18" charset="0"/>
                <a:cs typeface="Times New Roman" panose="02020603050405020304" pitchFamily="18" charset="0"/>
              </a:rPr>
              <a:t>Socio - demographic characteristics</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95FC4B68-6081-38BC-FDDC-5A2F43A3DCFD}"/>
              </a:ext>
            </a:extLst>
          </p:cNvPr>
          <p:cNvGraphicFramePr>
            <a:graphicFrameLocks noGrp="1"/>
          </p:cNvGraphicFramePr>
          <p:nvPr>
            <p:extLst>
              <p:ext uri="{D42A27DB-BD31-4B8C-83A1-F6EECF244321}">
                <p14:modId xmlns:p14="http://schemas.microsoft.com/office/powerpoint/2010/main" val="820028156"/>
              </p:ext>
            </p:extLst>
          </p:nvPr>
        </p:nvGraphicFramePr>
        <p:xfrm>
          <a:off x="609600" y="2291379"/>
          <a:ext cx="3859304" cy="1272093"/>
        </p:xfrm>
        <a:graphic>
          <a:graphicData uri="http://schemas.openxmlformats.org/drawingml/2006/table">
            <a:tbl>
              <a:tblPr firstRow="1" bandRow="1">
                <a:tableStyleId>{5C22544A-7EE6-4342-B048-85BDC9FD1C3A}</a:tableStyleId>
              </a:tblPr>
              <a:tblGrid>
                <a:gridCol w="1929652">
                  <a:extLst>
                    <a:ext uri="{9D8B030D-6E8A-4147-A177-3AD203B41FA5}">
                      <a16:colId xmlns:a16="http://schemas.microsoft.com/office/drawing/2014/main" val="1150941683"/>
                    </a:ext>
                  </a:extLst>
                </a:gridCol>
                <a:gridCol w="1929652">
                  <a:extLst>
                    <a:ext uri="{9D8B030D-6E8A-4147-A177-3AD203B41FA5}">
                      <a16:colId xmlns:a16="http://schemas.microsoft.com/office/drawing/2014/main" val="499249744"/>
                    </a:ext>
                  </a:extLst>
                </a:gridCol>
              </a:tblGrid>
              <a:tr h="424031">
                <a:tc>
                  <a:txBody>
                    <a:bodyPr/>
                    <a:lstStyle/>
                    <a:p>
                      <a:r>
                        <a:rPr lang="en-US" dirty="0">
                          <a:ln>
                            <a:noFill/>
                          </a:ln>
                          <a:solidFill>
                            <a:schemeClr val="tx1"/>
                          </a:solidFill>
                          <a:latin typeface="Times New Roman" panose="02020603050405020304" pitchFamily="18" charset="0"/>
                          <a:cs typeface="Times New Roman" panose="02020603050405020304" pitchFamily="18" charset="0"/>
                        </a:rPr>
                        <a:t>Characteristics</a:t>
                      </a:r>
                    </a:p>
                  </a:txBody>
                  <a:tcPr/>
                </a:tc>
                <a:tc>
                  <a:txBody>
                    <a:bodyPr/>
                    <a:lstStyle/>
                    <a:p>
                      <a:r>
                        <a:rPr lang="en-US" dirty="0">
                          <a:solidFill>
                            <a:schemeClr val="tx1"/>
                          </a:solidFill>
                          <a:latin typeface="Times New Roman" panose="02020603050405020304" pitchFamily="18" charset="0"/>
                          <a:cs typeface="Times New Roman" panose="02020603050405020304" pitchFamily="18" charset="0"/>
                        </a:rPr>
                        <a:t>Percentage (n)</a:t>
                      </a:r>
                    </a:p>
                  </a:txBody>
                  <a:tcPr/>
                </a:tc>
                <a:extLst>
                  <a:ext uri="{0D108BD9-81ED-4DB2-BD59-A6C34878D82A}">
                    <a16:rowId xmlns:a16="http://schemas.microsoft.com/office/drawing/2014/main" val="3528578435"/>
                  </a:ext>
                </a:extLst>
              </a:tr>
              <a:tr h="424031">
                <a:tc>
                  <a:txBody>
                    <a:bodyPr/>
                    <a:lstStyle/>
                    <a:p>
                      <a:r>
                        <a:rPr lang="en-US" dirty="0">
                          <a:latin typeface="Times New Roman" panose="02020603050405020304" pitchFamily="18" charset="0"/>
                          <a:cs typeface="Times New Roman" panose="02020603050405020304" pitchFamily="18" charset="0"/>
                        </a:rPr>
                        <a:t>Males</a:t>
                      </a:r>
                    </a:p>
                  </a:txBody>
                  <a:tcPr/>
                </a:tc>
                <a:tc>
                  <a:txBody>
                    <a:bodyPr/>
                    <a:lstStyle/>
                    <a:p>
                      <a:r>
                        <a:rPr lang="en-US" dirty="0">
                          <a:latin typeface="Times New Roman" panose="02020603050405020304" pitchFamily="18" charset="0"/>
                          <a:cs typeface="Times New Roman" panose="02020603050405020304" pitchFamily="18" charset="0"/>
                        </a:rPr>
                        <a:t>44.0% (33)</a:t>
                      </a:r>
                    </a:p>
                  </a:txBody>
                  <a:tcPr/>
                </a:tc>
                <a:extLst>
                  <a:ext uri="{0D108BD9-81ED-4DB2-BD59-A6C34878D82A}">
                    <a16:rowId xmlns:a16="http://schemas.microsoft.com/office/drawing/2014/main" val="3565389160"/>
                  </a:ext>
                </a:extLst>
              </a:tr>
              <a:tr h="424031">
                <a:tc>
                  <a:txBody>
                    <a:bodyPr/>
                    <a:lstStyle/>
                    <a:p>
                      <a:r>
                        <a:rPr lang="en-US" dirty="0">
                          <a:latin typeface="Times New Roman" panose="02020603050405020304" pitchFamily="18" charset="0"/>
                          <a:cs typeface="Times New Roman" panose="02020603050405020304" pitchFamily="18" charset="0"/>
                        </a:rPr>
                        <a:t>Females</a:t>
                      </a:r>
                    </a:p>
                  </a:txBody>
                  <a:tcPr/>
                </a:tc>
                <a:tc>
                  <a:txBody>
                    <a:bodyPr/>
                    <a:lstStyle/>
                    <a:p>
                      <a:r>
                        <a:rPr lang="en-US" dirty="0">
                          <a:latin typeface="Times New Roman" panose="02020603050405020304" pitchFamily="18" charset="0"/>
                          <a:cs typeface="Times New Roman" panose="02020603050405020304" pitchFamily="18" charset="0"/>
                        </a:rPr>
                        <a:t>56.0% (42)</a:t>
                      </a:r>
                    </a:p>
                  </a:txBody>
                  <a:tcPr/>
                </a:tc>
                <a:extLst>
                  <a:ext uri="{0D108BD9-81ED-4DB2-BD59-A6C34878D82A}">
                    <a16:rowId xmlns:a16="http://schemas.microsoft.com/office/drawing/2014/main" val="1989281835"/>
                  </a:ext>
                </a:extLst>
              </a:tr>
            </a:tbl>
          </a:graphicData>
        </a:graphic>
      </p:graphicFrame>
      <p:sp>
        <p:nvSpPr>
          <p:cNvPr id="6" name="TextBox 5">
            <a:extLst>
              <a:ext uri="{FF2B5EF4-FFF2-40B4-BE49-F238E27FC236}">
                <a16:creationId xmlns:a16="http://schemas.microsoft.com/office/drawing/2014/main" id="{99FDFD2F-A1C6-2B0A-F822-26CCF2BB98BB}"/>
              </a:ext>
            </a:extLst>
          </p:cNvPr>
          <p:cNvSpPr txBox="1"/>
          <p:nvPr/>
        </p:nvSpPr>
        <p:spPr>
          <a:xfrm>
            <a:off x="510988" y="3805519"/>
            <a:ext cx="10972800" cy="2246769"/>
          </a:xfrm>
          <a:prstGeom prst="rect">
            <a:avLst/>
          </a:prstGeom>
          <a:noFill/>
        </p:spPr>
        <p:txBody>
          <a:bodyPr wrap="square">
            <a:spAutoFit/>
          </a:bodyPr>
          <a:lstStyle/>
          <a:p>
            <a:pPr marL="285750" indent="-285750">
              <a:buFont typeface="Arial" panose="020B0604020202020204" pitchFamily="34" charset="0"/>
              <a:buChar char="•"/>
            </a:pPr>
            <a:r>
              <a:rPr lang="en-US" sz="2000" b="0" dirty="0">
                <a:latin typeface="Times New Roman" panose="02020603050405020304" pitchFamily="18" charset="0"/>
                <a:cs typeface="Times New Roman" panose="02020603050405020304" pitchFamily="18" charset="0"/>
              </a:rPr>
              <a:t>Most of the participant’s were :</a:t>
            </a:r>
          </a:p>
          <a:p>
            <a:pPr marL="285750" indent="-285750">
              <a:buFont typeface="Arial" panose="020B0604020202020204" pitchFamily="34" charset="0"/>
              <a:buChar char="•"/>
            </a:pPr>
            <a:endParaRPr lang="en-US" sz="2000" b="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b="0" dirty="0">
                <a:latin typeface="Times New Roman" panose="02020603050405020304" pitchFamily="18" charset="0"/>
                <a:cs typeface="Times New Roman" panose="02020603050405020304" pitchFamily="18" charset="0"/>
              </a:rPr>
              <a:t>20-30 years of age (62.7%) (n=47)</a:t>
            </a:r>
          </a:p>
          <a:p>
            <a:pPr marL="285750" indent="-285750">
              <a:buFont typeface="Wingdings" panose="05000000000000000000" pitchFamily="2" charset="2"/>
              <a:buChar char="Ø"/>
            </a:pPr>
            <a:r>
              <a:rPr lang="en-US" sz="2000" b="0" dirty="0">
                <a:latin typeface="Times New Roman" panose="02020603050405020304" pitchFamily="18" charset="0"/>
                <a:cs typeface="Times New Roman" panose="02020603050405020304" pitchFamily="18" charset="0"/>
              </a:rPr>
              <a:t>Religion of Christianity (50.0%) (n=37)</a:t>
            </a:r>
          </a:p>
          <a:p>
            <a:pPr marL="285750" indent="-285750">
              <a:buFont typeface="Wingdings" panose="05000000000000000000" pitchFamily="2" charset="2"/>
              <a:buChar char="Ø"/>
            </a:pPr>
            <a:r>
              <a:rPr lang="en-US" sz="2000" b="0" dirty="0">
                <a:latin typeface="Times New Roman" panose="02020603050405020304" pitchFamily="18" charset="0"/>
                <a:cs typeface="Times New Roman" panose="02020603050405020304" pitchFamily="18" charset="0"/>
              </a:rPr>
              <a:t>Degree Holders (68.0%) (n=51)</a:t>
            </a:r>
          </a:p>
          <a:p>
            <a:pPr marL="285750" indent="-285750">
              <a:buFont typeface="Wingdings" panose="05000000000000000000" pitchFamily="2" charset="2"/>
              <a:buChar char="Ø"/>
            </a:pPr>
            <a:r>
              <a:rPr lang="en-US" sz="2000" b="0" dirty="0">
                <a:latin typeface="Times New Roman" panose="02020603050405020304" pitchFamily="18" charset="0"/>
                <a:cs typeface="Times New Roman" panose="02020603050405020304" pitchFamily="18" charset="0"/>
              </a:rPr>
              <a:t>Urban Residence (86.7%) (n=65)</a:t>
            </a:r>
          </a:p>
          <a:p>
            <a:pPr marL="285750" indent="-285750">
              <a:buFont typeface="Wingdings" panose="05000000000000000000" pitchFamily="2" charset="2"/>
              <a:buChar char="Ø"/>
            </a:pPr>
            <a:r>
              <a:rPr lang="en-US" sz="2000" b="0" dirty="0">
                <a:latin typeface="Times New Roman" panose="02020603050405020304" pitchFamily="18" charset="0"/>
                <a:cs typeface="Times New Roman" panose="02020603050405020304" pitchFamily="18" charset="0"/>
              </a:rPr>
              <a:t>Monthly Income above LKR 90,000 (37.3%) (n=28)</a:t>
            </a:r>
          </a:p>
        </p:txBody>
      </p:sp>
    </p:spTree>
    <p:extLst>
      <p:ext uri="{BB962C8B-B14F-4D97-AF65-F5344CB8AC3E}">
        <p14:creationId xmlns:p14="http://schemas.microsoft.com/office/powerpoint/2010/main" val="2731871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46762-0C39-885F-F68E-572C29667DB3}"/>
              </a:ext>
            </a:extLst>
          </p:cNvPr>
          <p:cNvSpPr>
            <a:spLocks noGrp="1"/>
          </p:cNvSpPr>
          <p:nvPr>
            <p:ph type="title"/>
          </p:nvPr>
        </p:nvSpPr>
        <p:spPr>
          <a:xfrm>
            <a:off x="3451412" y="600217"/>
            <a:ext cx="5289176" cy="666656"/>
          </a:xfrm>
        </p:spPr>
        <p:txBody>
          <a:bodyPr/>
          <a:lstStyle/>
          <a:p>
            <a:r>
              <a:rPr lang="en-US" sz="3200" b="1" dirty="0">
                <a:latin typeface="Times New Roman" panose="02020603050405020304" pitchFamily="18" charset="0"/>
                <a:cs typeface="Times New Roman" panose="02020603050405020304" pitchFamily="18" charset="0"/>
              </a:rPr>
              <a:t>Chapter 3 : Results</a:t>
            </a:r>
            <a:endParaRPr lang="en-US" sz="3200" dirty="0"/>
          </a:p>
        </p:txBody>
      </p:sp>
      <p:sp>
        <p:nvSpPr>
          <p:cNvPr id="3" name="Content Placeholder 2">
            <a:extLst>
              <a:ext uri="{FF2B5EF4-FFF2-40B4-BE49-F238E27FC236}">
                <a16:creationId xmlns:a16="http://schemas.microsoft.com/office/drawing/2014/main" id="{0C3AFCB3-A8CE-7411-E459-A65D3D3C9BAD}"/>
              </a:ext>
            </a:extLst>
          </p:cNvPr>
          <p:cNvSpPr>
            <a:spLocks noGrp="1"/>
          </p:cNvSpPr>
          <p:nvPr>
            <p:ph idx="1"/>
          </p:nvPr>
        </p:nvSpPr>
        <p:spPr>
          <a:xfrm>
            <a:off x="609600" y="1266873"/>
            <a:ext cx="10972800" cy="4525963"/>
          </a:xfrm>
        </p:spPr>
        <p:txBody>
          <a:bodyPr/>
          <a:lstStyle/>
          <a:p>
            <a:pPr marL="0" indent="0">
              <a:buNone/>
            </a:pPr>
            <a:r>
              <a:rPr lang="en-US" sz="2000" b="1" dirty="0">
                <a:latin typeface="Times New Roman" panose="02020603050405020304" pitchFamily="18" charset="0"/>
                <a:cs typeface="Times New Roman" panose="02020603050405020304" pitchFamily="18" charset="0"/>
              </a:rPr>
              <a:t>Working from home environment of the employees</a:t>
            </a:r>
          </a:p>
          <a:p>
            <a:pPr marL="0" indent="0">
              <a:buNone/>
            </a:pPr>
            <a:endParaRPr lang="en-US" sz="2000"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EA2DA3C-DB20-0A1D-0B9B-EBF13C7B9633}"/>
              </a:ext>
            </a:extLst>
          </p:cNvPr>
          <p:cNvGraphicFramePr>
            <a:graphicFrameLocks noGrp="1"/>
          </p:cNvGraphicFramePr>
          <p:nvPr>
            <p:extLst>
              <p:ext uri="{D42A27DB-BD31-4B8C-83A1-F6EECF244321}">
                <p14:modId xmlns:p14="http://schemas.microsoft.com/office/powerpoint/2010/main" val="810488243"/>
              </p:ext>
            </p:extLst>
          </p:nvPr>
        </p:nvGraphicFramePr>
        <p:xfrm>
          <a:off x="699248" y="1703009"/>
          <a:ext cx="7879976" cy="4976887"/>
        </p:xfrm>
        <a:graphic>
          <a:graphicData uri="http://schemas.openxmlformats.org/drawingml/2006/table">
            <a:tbl>
              <a:tblPr firstRow="1" firstCol="1" bandRow="1">
                <a:tableStyleId>{5C22544A-7EE6-4342-B048-85BDC9FD1C3A}</a:tableStyleId>
              </a:tblPr>
              <a:tblGrid>
                <a:gridCol w="3946121">
                  <a:extLst>
                    <a:ext uri="{9D8B030D-6E8A-4147-A177-3AD203B41FA5}">
                      <a16:colId xmlns:a16="http://schemas.microsoft.com/office/drawing/2014/main" val="617449266"/>
                    </a:ext>
                  </a:extLst>
                </a:gridCol>
                <a:gridCol w="3933855">
                  <a:extLst>
                    <a:ext uri="{9D8B030D-6E8A-4147-A177-3AD203B41FA5}">
                      <a16:colId xmlns:a16="http://schemas.microsoft.com/office/drawing/2014/main" val="3401798566"/>
                    </a:ext>
                  </a:extLst>
                </a:gridCol>
              </a:tblGrid>
              <a:tr h="59760">
                <a:tc>
                  <a:txBody>
                    <a:bodyPr/>
                    <a:lstStyle/>
                    <a:p>
                      <a:pPr marL="0" marR="0" algn="ctr">
                        <a:lnSpc>
                          <a:spcPct val="107000"/>
                        </a:lnSpc>
                        <a:spcBef>
                          <a:spcPts val="0"/>
                        </a:spcBef>
                        <a:spcAft>
                          <a:spcPts val="0"/>
                        </a:spcAft>
                      </a:pPr>
                      <a:r>
                        <a:rPr lang="en-US" sz="400">
                          <a:effectLst/>
                        </a:rPr>
                        <a:t>Parameter</a:t>
                      </a:r>
                      <a:endParaRPr lang="en-US" sz="400">
                        <a:effectLst/>
                        <a:latin typeface="Calibri" panose="020F0502020204030204" pitchFamily="34" charset="0"/>
                        <a:ea typeface="Calibri" panose="020F0502020204030204" pitchFamily="34" charset="0"/>
                        <a:cs typeface="Latha" panose="020B0604020202020204" pitchFamily="34" charset="0"/>
                      </a:endParaRPr>
                    </a:p>
                  </a:txBody>
                  <a:tcPr marL="24554" marR="24554" marT="0" marB="0" anchor="ctr"/>
                </a:tc>
                <a:tc>
                  <a:txBody>
                    <a:bodyPr/>
                    <a:lstStyle/>
                    <a:p>
                      <a:pPr marL="0" marR="0" algn="ctr">
                        <a:lnSpc>
                          <a:spcPct val="107000"/>
                        </a:lnSpc>
                        <a:spcBef>
                          <a:spcPts val="0"/>
                        </a:spcBef>
                        <a:spcAft>
                          <a:spcPts val="0"/>
                        </a:spcAft>
                      </a:pPr>
                      <a:r>
                        <a:rPr lang="en-US" sz="400">
                          <a:effectLst/>
                        </a:rPr>
                        <a:t>Percentage of sample % (n)</a:t>
                      </a:r>
                      <a:endParaRPr lang="en-US" sz="400">
                        <a:effectLst/>
                        <a:latin typeface="Calibri" panose="020F0502020204030204" pitchFamily="34" charset="0"/>
                        <a:ea typeface="Calibri" panose="020F0502020204030204" pitchFamily="34" charset="0"/>
                        <a:cs typeface="Latha" panose="020B0604020202020204" pitchFamily="34" charset="0"/>
                      </a:endParaRPr>
                    </a:p>
                  </a:txBody>
                  <a:tcPr marL="24554" marR="24554" marT="0" marB="0" anchor="ctr"/>
                </a:tc>
                <a:extLst>
                  <a:ext uri="{0D108BD9-81ED-4DB2-BD59-A6C34878D82A}">
                    <a16:rowId xmlns:a16="http://schemas.microsoft.com/office/drawing/2014/main" val="2023387205"/>
                  </a:ext>
                </a:extLst>
              </a:tr>
              <a:tr h="932826">
                <a:tc>
                  <a:txBody>
                    <a:bodyPr/>
                    <a:lstStyle/>
                    <a:p>
                      <a:pPr marL="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How often do you work from home?</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Everyday</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Most days of the week</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Once or twice a week</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Depends on company requirements</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 </a:t>
                      </a:r>
                      <a:endParaRPr lang="en-US" sz="10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54" marR="24554" marT="0" marB="0"/>
                </a:tc>
                <a:tc>
                  <a:txBody>
                    <a:bodyPr/>
                    <a:lstStyle/>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33.3 (25)</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18.7 (14)</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10.7 (8)</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37.3 (28)</a:t>
                      </a:r>
                      <a:endParaRPr lang="en-US" sz="105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554" marR="24554" marT="0" marB="0"/>
                </a:tc>
                <a:extLst>
                  <a:ext uri="{0D108BD9-81ED-4DB2-BD59-A6C34878D82A}">
                    <a16:rowId xmlns:a16="http://schemas.microsoft.com/office/drawing/2014/main" val="3088406163"/>
                  </a:ext>
                </a:extLst>
              </a:tr>
              <a:tr h="618353">
                <a:tc>
                  <a:txBody>
                    <a:bodyPr/>
                    <a:lstStyle/>
                    <a:p>
                      <a:pPr marL="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Is your working from home option,</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Full Time</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Part Time</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 </a:t>
                      </a:r>
                      <a:endParaRPr lang="en-US" sz="10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54" marR="24554" marT="0" marB="0"/>
                </a:tc>
                <a:tc>
                  <a:txBody>
                    <a:bodyPr/>
                    <a:lstStyle/>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68 (51)</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32 (24)</a:t>
                      </a:r>
                      <a:endParaRPr lang="en-US" sz="105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554" marR="24554" marT="0" marB="0"/>
                </a:tc>
                <a:extLst>
                  <a:ext uri="{0D108BD9-81ED-4DB2-BD59-A6C34878D82A}">
                    <a16:rowId xmlns:a16="http://schemas.microsoft.com/office/drawing/2014/main" val="3675661771"/>
                  </a:ext>
                </a:extLst>
              </a:tr>
              <a:tr h="618353">
                <a:tc>
                  <a:txBody>
                    <a:bodyPr/>
                    <a:lstStyle/>
                    <a:p>
                      <a:pPr marL="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Do you have to work beyond your stipulated working hours?</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Yes</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No</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 </a:t>
                      </a:r>
                      <a:endParaRPr lang="en-US" sz="10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54" marR="24554" marT="0" marB="0"/>
                </a:tc>
                <a:tc>
                  <a:txBody>
                    <a:bodyPr/>
                    <a:lstStyle/>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 74.7 (56)</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25.3 (19)</a:t>
                      </a:r>
                      <a:endParaRPr lang="en-US" sz="105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554" marR="24554" marT="0" marB="0"/>
                </a:tc>
                <a:extLst>
                  <a:ext uri="{0D108BD9-81ED-4DB2-BD59-A6C34878D82A}">
                    <a16:rowId xmlns:a16="http://schemas.microsoft.com/office/drawing/2014/main" val="1406800435"/>
                  </a:ext>
                </a:extLst>
              </a:tr>
              <a:tr h="1090062">
                <a:tc>
                  <a:txBody>
                    <a:bodyPr/>
                    <a:lstStyle/>
                    <a:p>
                      <a:pPr marL="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On average how long do you work online per day?</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0 – 3hrs</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4 – 6hrs</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7 – 9hrs</a:t>
                      </a:r>
                    </a:p>
                    <a:p>
                      <a:pPr marL="45720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10 – 12hrs</a:t>
                      </a:r>
                      <a:endParaRPr lang="en-US" sz="10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54" marR="24554" marT="0" marB="0"/>
                </a:tc>
                <a:tc>
                  <a:txBody>
                    <a:bodyPr/>
                    <a:lstStyle/>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 1.3 (1)</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14.7 (11)</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58.7 (44)</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25.3 (19)</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 </a:t>
                      </a:r>
                      <a:endParaRPr lang="en-US" sz="105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554" marR="24554" marT="0" marB="0"/>
                </a:tc>
                <a:extLst>
                  <a:ext uri="{0D108BD9-81ED-4DB2-BD59-A6C34878D82A}">
                    <a16:rowId xmlns:a16="http://schemas.microsoft.com/office/drawing/2014/main" val="1879648882"/>
                  </a:ext>
                </a:extLst>
              </a:tr>
              <a:tr h="775589">
                <a:tc>
                  <a:txBody>
                    <a:bodyPr/>
                    <a:lstStyle/>
                    <a:p>
                      <a:pPr marL="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Do you get distracted/disturbed while attending meetings due to family commitments?</a:t>
                      </a:r>
                    </a:p>
                    <a:p>
                      <a:pPr marL="0" marR="0" indent="457200">
                        <a:lnSpc>
                          <a:spcPct val="107000"/>
                        </a:lnSpc>
                        <a:spcBef>
                          <a:spcPts val="0"/>
                        </a:spcBef>
                        <a:spcAft>
                          <a:spcPts val="0"/>
                        </a:spcAft>
                        <a:tabLst>
                          <a:tab pos="666750" algn="l"/>
                        </a:tabLst>
                      </a:pPr>
                      <a:r>
                        <a:rPr lang="en-US" sz="1050" dirty="0">
                          <a:solidFill>
                            <a:schemeClr val="tx1"/>
                          </a:solidFill>
                          <a:effectLst/>
                          <a:latin typeface="Times New Roman" panose="02020603050405020304" pitchFamily="18" charset="0"/>
                          <a:cs typeface="Times New Roman" panose="02020603050405020304" pitchFamily="18" charset="0"/>
                        </a:rPr>
                        <a:t> Yes</a:t>
                      </a:r>
                    </a:p>
                    <a:p>
                      <a:pPr marL="0" marR="0" indent="457200">
                        <a:lnSpc>
                          <a:spcPct val="107000"/>
                        </a:lnSpc>
                        <a:spcBef>
                          <a:spcPts val="0"/>
                        </a:spcBef>
                        <a:spcAft>
                          <a:spcPts val="0"/>
                        </a:spcAft>
                        <a:tabLst>
                          <a:tab pos="666750" algn="l"/>
                        </a:tabLst>
                      </a:pPr>
                      <a:r>
                        <a:rPr lang="en-US" sz="1050" dirty="0">
                          <a:solidFill>
                            <a:schemeClr val="tx1"/>
                          </a:solidFill>
                          <a:effectLst/>
                          <a:latin typeface="Times New Roman" panose="02020603050405020304" pitchFamily="18" charset="0"/>
                          <a:cs typeface="Times New Roman" panose="02020603050405020304" pitchFamily="18" charset="0"/>
                        </a:rPr>
                        <a:t> No</a:t>
                      </a:r>
                    </a:p>
                    <a:p>
                      <a:pPr marL="0" marR="0" indent="457200">
                        <a:lnSpc>
                          <a:spcPct val="107000"/>
                        </a:lnSpc>
                        <a:spcBef>
                          <a:spcPts val="0"/>
                        </a:spcBef>
                        <a:spcAft>
                          <a:spcPts val="0"/>
                        </a:spcAft>
                        <a:tabLst>
                          <a:tab pos="666750" algn="l"/>
                        </a:tabLst>
                      </a:pPr>
                      <a:r>
                        <a:rPr lang="en-US" sz="1050" dirty="0">
                          <a:solidFill>
                            <a:schemeClr val="tx1"/>
                          </a:solidFill>
                          <a:effectLst/>
                          <a:latin typeface="Times New Roman" panose="02020603050405020304" pitchFamily="18" charset="0"/>
                          <a:cs typeface="Times New Roman" panose="02020603050405020304" pitchFamily="18" charset="0"/>
                        </a:rPr>
                        <a:t> </a:t>
                      </a:r>
                      <a:endParaRPr lang="en-US" sz="10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54" marR="24554" marT="0" marB="0"/>
                </a:tc>
                <a:tc>
                  <a:txBody>
                    <a:bodyPr/>
                    <a:lstStyle/>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72 (54)</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28 (21)</a:t>
                      </a:r>
                      <a:endParaRPr lang="en-US" sz="105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554" marR="24554" marT="0" marB="0"/>
                </a:tc>
                <a:extLst>
                  <a:ext uri="{0D108BD9-81ED-4DB2-BD59-A6C34878D82A}">
                    <a16:rowId xmlns:a16="http://schemas.microsoft.com/office/drawing/2014/main" val="4206824790"/>
                  </a:ext>
                </a:extLst>
              </a:tr>
              <a:tr h="618353">
                <a:tc>
                  <a:txBody>
                    <a:bodyPr/>
                    <a:lstStyle/>
                    <a:p>
                      <a:pPr marL="0" marR="0">
                        <a:lnSpc>
                          <a:spcPct val="107000"/>
                        </a:lnSpc>
                        <a:spcBef>
                          <a:spcPts val="0"/>
                        </a:spcBef>
                        <a:spcAft>
                          <a:spcPts val="0"/>
                        </a:spcAft>
                      </a:pPr>
                      <a:r>
                        <a:rPr lang="en-US" sz="1050" dirty="0">
                          <a:solidFill>
                            <a:schemeClr val="tx1"/>
                          </a:solidFill>
                          <a:effectLst/>
                          <a:latin typeface="Times New Roman" panose="02020603050405020304" pitchFamily="18" charset="0"/>
                          <a:cs typeface="Times New Roman" panose="02020603050405020304" pitchFamily="18" charset="0"/>
                        </a:rPr>
                        <a:t>Do you face internet connectivity issues while attending meetings?</a:t>
                      </a:r>
                    </a:p>
                    <a:p>
                      <a:pPr marL="0" marR="0">
                        <a:lnSpc>
                          <a:spcPct val="107000"/>
                        </a:lnSpc>
                        <a:spcBef>
                          <a:spcPts val="0"/>
                        </a:spcBef>
                        <a:spcAft>
                          <a:spcPts val="0"/>
                        </a:spcAft>
                        <a:tabLst>
                          <a:tab pos="666750" algn="l"/>
                        </a:tabLst>
                      </a:pPr>
                      <a:r>
                        <a:rPr lang="en-US" sz="1050" dirty="0">
                          <a:solidFill>
                            <a:schemeClr val="tx1"/>
                          </a:solidFill>
                          <a:effectLst/>
                          <a:latin typeface="Times New Roman" panose="02020603050405020304" pitchFamily="18" charset="0"/>
                          <a:cs typeface="Times New Roman" panose="02020603050405020304" pitchFamily="18" charset="0"/>
                        </a:rPr>
                        <a:t>	Yes</a:t>
                      </a:r>
                    </a:p>
                    <a:p>
                      <a:pPr marL="0" marR="0">
                        <a:lnSpc>
                          <a:spcPct val="107000"/>
                        </a:lnSpc>
                        <a:spcBef>
                          <a:spcPts val="0"/>
                        </a:spcBef>
                        <a:spcAft>
                          <a:spcPts val="0"/>
                        </a:spcAft>
                        <a:tabLst>
                          <a:tab pos="666750" algn="l"/>
                        </a:tabLst>
                      </a:pPr>
                      <a:r>
                        <a:rPr lang="en-US" sz="1050" dirty="0">
                          <a:solidFill>
                            <a:schemeClr val="tx1"/>
                          </a:solidFill>
                          <a:effectLst/>
                          <a:latin typeface="Times New Roman" panose="02020603050405020304" pitchFamily="18" charset="0"/>
                          <a:cs typeface="Times New Roman" panose="02020603050405020304" pitchFamily="18" charset="0"/>
                        </a:rPr>
                        <a:t>	No</a:t>
                      </a:r>
                      <a:endParaRPr lang="en-US" sz="10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54" marR="24554" marT="0" marB="0"/>
                </a:tc>
                <a:tc>
                  <a:txBody>
                    <a:bodyPr/>
                    <a:lstStyle/>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 88 (66)</a:t>
                      </a:r>
                    </a:p>
                    <a:p>
                      <a:pPr marL="0" marR="0" algn="l">
                        <a:lnSpc>
                          <a:spcPct val="107000"/>
                        </a:lnSpc>
                        <a:spcBef>
                          <a:spcPts val="0"/>
                        </a:spcBef>
                        <a:spcAft>
                          <a:spcPts val="0"/>
                        </a:spcAft>
                      </a:pPr>
                      <a:r>
                        <a:rPr lang="en-US" sz="1050" b="1" dirty="0">
                          <a:effectLst/>
                          <a:latin typeface="Times New Roman" panose="02020603050405020304" pitchFamily="18" charset="0"/>
                          <a:cs typeface="Times New Roman" panose="02020603050405020304" pitchFamily="18" charset="0"/>
                        </a:rPr>
                        <a:t>12 (9)</a:t>
                      </a:r>
                      <a:endParaRPr lang="en-US" sz="105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554" marR="24554" marT="0" marB="0"/>
                </a:tc>
                <a:extLst>
                  <a:ext uri="{0D108BD9-81ED-4DB2-BD59-A6C34878D82A}">
                    <a16:rowId xmlns:a16="http://schemas.microsoft.com/office/drawing/2014/main" val="4045256396"/>
                  </a:ext>
                </a:extLst>
              </a:tr>
            </a:tbl>
          </a:graphicData>
        </a:graphic>
      </p:graphicFrame>
    </p:spTree>
    <p:extLst>
      <p:ext uri="{BB962C8B-B14F-4D97-AF65-F5344CB8AC3E}">
        <p14:creationId xmlns:p14="http://schemas.microsoft.com/office/powerpoint/2010/main" val="3043556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94AE7-CC90-110D-C60D-00384344C7E5}"/>
              </a:ext>
            </a:extLst>
          </p:cNvPr>
          <p:cNvSpPr>
            <a:spLocks noGrp="1"/>
          </p:cNvSpPr>
          <p:nvPr>
            <p:ph type="title"/>
          </p:nvPr>
        </p:nvSpPr>
        <p:spPr>
          <a:xfrm>
            <a:off x="3881717" y="355323"/>
            <a:ext cx="4428565" cy="774233"/>
          </a:xfrm>
        </p:spPr>
        <p:txBody>
          <a:bodyPr/>
          <a:lstStyle/>
          <a:p>
            <a:r>
              <a:rPr lang="en-US" sz="3200" b="1" dirty="0">
                <a:latin typeface="Times New Roman" panose="02020603050405020304" pitchFamily="18" charset="0"/>
                <a:cs typeface="Times New Roman" panose="02020603050405020304" pitchFamily="18" charset="0"/>
              </a:rPr>
              <a:t>Chapter 3 : Results</a:t>
            </a:r>
            <a:endParaRPr lang="en-US" sz="3200" dirty="0"/>
          </a:p>
        </p:txBody>
      </p:sp>
      <p:sp>
        <p:nvSpPr>
          <p:cNvPr id="3" name="Content Placeholder 2">
            <a:extLst>
              <a:ext uri="{FF2B5EF4-FFF2-40B4-BE49-F238E27FC236}">
                <a16:creationId xmlns:a16="http://schemas.microsoft.com/office/drawing/2014/main" id="{2A0A8404-1CBE-7DEC-CED0-0D4C627DB13B}"/>
              </a:ext>
            </a:extLst>
          </p:cNvPr>
          <p:cNvSpPr>
            <a:spLocks noGrp="1"/>
          </p:cNvSpPr>
          <p:nvPr>
            <p:ph idx="1"/>
          </p:nvPr>
        </p:nvSpPr>
        <p:spPr>
          <a:xfrm>
            <a:off x="609599" y="941301"/>
            <a:ext cx="10972800" cy="4525963"/>
          </a:xfrm>
        </p:spPr>
        <p:txBody>
          <a:bodyPr/>
          <a:lstStyle/>
          <a:p>
            <a:pPr marL="0" indent="0">
              <a:buNone/>
            </a:pPr>
            <a:r>
              <a:rPr lang="en-US" sz="2000" b="1" dirty="0">
                <a:latin typeface="Times New Roman" panose="02020603050405020304" pitchFamily="18" charset="0"/>
                <a:cs typeface="Times New Roman" panose="02020603050405020304" pitchFamily="18" charset="0"/>
              </a:rPr>
              <a:t>Zoom exhaustion and fatigue scale</a:t>
            </a:r>
          </a:p>
          <a:p>
            <a:r>
              <a:rPr lang="en-US" sz="2000" dirty="0">
                <a:latin typeface="Times New Roman" panose="02020603050405020304" pitchFamily="18" charset="0"/>
                <a:cs typeface="Times New Roman" panose="02020603050405020304" pitchFamily="18" charset="0"/>
              </a:rPr>
              <a:t>Fifteen questions were asked under five main fatigue factors (General, Visual, Social, Motivational, Emotional). Each category contains three questions where “Not at all”, “Slightly”, “Moderately”, “Very” and “Extremely”. </a:t>
            </a:r>
          </a:p>
          <a:p>
            <a:pPr marL="0" indent="0">
              <a:buNone/>
            </a:pPr>
            <a:endParaRPr lang="en-US" sz="20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9817C96-4CCC-BDCC-9B8F-D2C6BDF43723}"/>
              </a:ext>
            </a:extLst>
          </p:cNvPr>
          <p:cNvGraphicFramePr>
            <a:graphicFrameLocks noGrp="1"/>
          </p:cNvGraphicFramePr>
          <p:nvPr>
            <p:extLst>
              <p:ext uri="{D42A27DB-BD31-4B8C-83A1-F6EECF244321}">
                <p14:modId xmlns:p14="http://schemas.microsoft.com/office/powerpoint/2010/main" val="1660163791"/>
              </p:ext>
            </p:extLst>
          </p:nvPr>
        </p:nvGraphicFramePr>
        <p:xfrm>
          <a:off x="31379" y="2354514"/>
          <a:ext cx="4123765" cy="4470508"/>
        </p:xfrm>
        <a:graphic>
          <a:graphicData uri="http://schemas.openxmlformats.org/drawingml/2006/table">
            <a:tbl>
              <a:tblPr firstRow="1" firstCol="1" bandRow="1">
                <a:tableStyleId>{5C22544A-7EE6-4342-B048-85BDC9FD1C3A}</a:tableStyleId>
              </a:tblPr>
              <a:tblGrid>
                <a:gridCol w="2187389">
                  <a:extLst>
                    <a:ext uri="{9D8B030D-6E8A-4147-A177-3AD203B41FA5}">
                      <a16:colId xmlns:a16="http://schemas.microsoft.com/office/drawing/2014/main" val="2277321545"/>
                    </a:ext>
                  </a:extLst>
                </a:gridCol>
                <a:gridCol w="1936376">
                  <a:extLst>
                    <a:ext uri="{9D8B030D-6E8A-4147-A177-3AD203B41FA5}">
                      <a16:colId xmlns:a16="http://schemas.microsoft.com/office/drawing/2014/main" val="2096342686"/>
                    </a:ext>
                  </a:extLst>
                </a:gridCol>
              </a:tblGrid>
              <a:tr h="201403">
                <a:tc>
                  <a:txBody>
                    <a:bodyPr/>
                    <a:lstStyle/>
                    <a:p>
                      <a:pPr marL="0" marR="0" algn="ctr">
                        <a:lnSpc>
                          <a:spcPct val="107000"/>
                        </a:lnSpc>
                        <a:spcBef>
                          <a:spcPts val="0"/>
                        </a:spcBef>
                        <a:spcAft>
                          <a:spcPts val="0"/>
                        </a:spcAft>
                      </a:pP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General Fatigue Factors</a:t>
                      </a:r>
                    </a:p>
                  </a:txBody>
                  <a:tcPr marL="61474" marR="61474"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algn="ctr">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Percentage of sample % (n)</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77341338"/>
                  </a:ext>
                </a:extLst>
              </a:tr>
              <a:tr h="1312495">
                <a:tc>
                  <a:txBody>
                    <a:bodyPr/>
                    <a:lstStyle/>
                    <a:p>
                      <a:pPr marL="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How tired do you feel after video conferencing?</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Extremely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 </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L w="12700" cap="flat" cmpd="sng" algn="ctr">
                      <a:solidFill>
                        <a:schemeClr val="tx1"/>
                      </a:solidFill>
                      <a:prstDash val="solid"/>
                      <a:round/>
                      <a:headEnd type="none" w="med" len="med"/>
                      <a:tailEnd type="none" w="med" len="med"/>
                    </a:lnL>
                  </a:tcPr>
                </a:tc>
                <a:tc>
                  <a:txBody>
                    <a:bodyPr/>
                    <a:lstStyle/>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9.3 (7)</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28 (21)</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41.3 (31)</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20 (15)</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1.3 (1)</a:t>
                      </a:r>
                      <a:endParaRPr lang="en-US" sz="11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40337182"/>
                  </a:ext>
                </a:extLst>
              </a:tr>
              <a:tr h="1312495">
                <a:tc>
                  <a:txBody>
                    <a:bodyPr/>
                    <a:lstStyle/>
                    <a:p>
                      <a:pPr marL="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How exhausted do you feel after video conferencing?</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Extremely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 </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L w="12700" cap="flat" cmpd="sng" algn="ctr">
                      <a:solidFill>
                        <a:schemeClr val="tx1"/>
                      </a:solidFill>
                      <a:prstDash val="solid"/>
                      <a:round/>
                      <a:headEnd type="none" w="med" len="med"/>
                      <a:tailEnd type="none" w="med" len="med"/>
                    </a:lnL>
                  </a:tcPr>
                </a:tc>
                <a:tc>
                  <a:txBody>
                    <a:bodyPr/>
                    <a:lstStyle/>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14.7 (11)</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24 (18)</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33.3 (25)</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24 (18)</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4 (3)</a:t>
                      </a:r>
                      <a:endParaRPr lang="en-US" sz="11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54154814"/>
                  </a:ext>
                </a:extLst>
              </a:tr>
              <a:tr h="1312495">
                <a:tc>
                  <a:txBody>
                    <a:bodyPr/>
                    <a:lstStyle/>
                    <a:p>
                      <a:pPr marL="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How mentally drained do you feel after video conferencing?</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Extremely                                                             </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 </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12 (9)</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24 (18)</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38.7 (29)</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13.3 (10)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12 (9)</a:t>
                      </a:r>
                      <a:endParaRPr lang="en-US" sz="11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5509300"/>
                  </a:ext>
                </a:extLst>
              </a:tr>
            </a:tbl>
          </a:graphicData>
        </a:graphic>
      </p:graphicFrame>
      <p:graphicFrame>
        <p:nvGraphicFramePr>
          <p:cNvPr id="5" name="Table 4">
            <a:extLst>
              <a:ext uri="{FF2B5EF4-FFF2-40B4-BE49-F238E27FC236}">
                <a16:creationId xmlns:a16="http://schemas.microsoft.com/office/drawing/2014/main" id="{C30A3015-70FD-17AD-61E5-1B8D01F7A035}"/>
              </a:ext>
            </a:extLst>
          </p:cNvPr>
          <p:cNvGraphicFramePr>
            <a:graphicFrameLocks noGrp="1"/>
          </p:cNvGraphicFramePr>
          <p:nvPr>
            <p:extLst>
              <p:ext uri="{D42A27DB-BD31-4B8C-83A1-F6EECF244321}">
                <p14:modId xmlns:p14="http://schemas.microsoft.com/office/powerpoint/2010/main" val="3111038244"/>
              </p:ext>
            </p:extLst>
          </p:nvPr>
        </p:nvGraphicFramePr>
        <p:xfrm>
          <a:off x="4195483" y="2354514"/>
          <a:ext cx="4007225" cy="4470507"/>
        </p:xfrm>
        <a:graphic>
          <a:graphicData uri="http://schemas.openxmlformats.org/drawingml/2006/table">
            <a:tbl>
              <a:tblPr firstRow="1" firstCol="1" bandRow="1">
                <a:tableStyleId>{5C22544A-7EE6-4342-B048-85BDC9FD1C3A}</a:tableStyleId>
              </a:tblPr>
              <a:tblGrid>
                <a:gridCol w="2336668">
                  <a:extLst>
                    <a:ext uri="{9D8B030D-6E8A-4147-A177-3AD203B41FA5}">
                      <a16:colId xmlns:a16="http://schemas.microsoft.com/office/drawing/2014/main" val="242416077"/>
                    </a:ext>
                  </a:extLst>
                </a:gridCol>
                <a:gridCol w="1670557">
                  <a:extLst>
                    <a:ext uri="{9D8B030D-6E8A-4147-A177-3AD203B41FA5}">
                      <a16:colId xmlns:a16="http://schemas.microsoft.com/office/drawing/2014/main" val="536449870"/>
                    </a:ext>
                  </a:extLst>
                </a:gridCol>
              </a:tblGrid>
              <a:tr h="160283">
                <a:tc>
                  <a:txBody>
                    <a:bodyPr/>
                    <a:lstStyle/>
                    <a:p>
                      <a:pPr marL="0" marR="0" algn="ctr">
                        <a:lnSpc>
                          <a:spcPct val="107000"/>
                        </a:lnSpc>
                        <a:spcBef>
                          <a:spcPts val="0"/>
                        </a:spcBef>
                        <a:spcAft>
                          <a:spcPts val="0"/>
                        </a:spcAft>
                      </a:pPr>
                      <a:r>
                        <a:rPr lang="en-US" sz="1000" dirty="0">
                          <a:solidFill>
                            <a:schemeClr val="tx1"/>
                          </a:solidFill>
                          <a:latin typeface="Times New Roman" panose="02020603050405020304" pitchFamily="18" charset="0"/>
                          <a:cs typeface="Times New Roman" panose="02020603050405020304" pitchFamily="18" charset="0"/>
                        </a:rPr>
                        <a:t>Visual Fatigue Factors</a:t>
                      </a:r>
                    </a:p>
                  </a:txBody>
                  <a:tcPr marL="64057" marR="64057"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algn="ctr">
                        <a:lnSpc>
                          <a:spcPct val="107000"/>
                        </a:lnSpc>
                        <a:spcBef>
                          <a:spcPts val="0"/>
                        </a:spcBef>
                        <a:spcAft>
                          <a:spcPts val="0"/>
                        </a:spcAft>
                      </a:pPr>
                      <a:r>
                        <a:rPr lang="en-US" sz="1000" dirty="0">
                          <a:solidFill>
                            <a:schemeClr val="tx1"/>
                          </a:solidFill>
                          <a:latin typeface="Times New Roman" panose="02020603050405020304" pitchFamily="18" charset="0"/>
                          <a:cs typeface="Times New Roman" panose="02020603050405020304" pitchFamily="18" charset="0"/>
                        </a:rPr>
                        <a:t>Percentage of sample % (n)</a:t>
                      </a:r>
                    </a:p>
                  </a:txBody>
                  <a:tcPr marL="64057" marR="64057"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830633748"/>
                  </a:ext>
                </a:extLst>
              </a:tr>
              <a:tr h="1499761">
                <a:tc>
                  <a:txBody>
                    <a:bodyPr/>
                    <a:lstStyle/>
                    <a:p>
                      <a:pPr marL="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How blurred does your vision get after video conferencing?</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Extremely</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 </a:t>
                      </a:r>
                    </a:p>
                  </a:txBody>
                  <a:tcPr marL="64057" marR="64057" marT="0" marB="0">
                    <a:lnL w="12700" cap="flat" cmpd="sng" algn="ctr">
                      <a:solidFill>
                        <a:schemeClr val="tx1"/>
                      </a:solidFill>
                      <a:prstDash val="solid"/>
                      <a:round/>
                      <a:headEnd type="none" w="med" len="med"/>
                      <a:tailEnd type="none" w="med" len="med"/>
                    </a:lnL>
                  </a:tcPr>
                </a:tc>
                <a:tc>
                  <a:txBody>
                    <a:bodyPr/>
                    <a:lstStyle/>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17.3 (13)</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20 (15)</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24 (18)</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26.7 (20)</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12 (9)</a:t>
                      </a:r>
                    </a:p>
                  </a:txBody>
                  <a:tcPr marL="64057" marR="64057"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186737"/>
                  </a:ext>
                </a:extLst>
              </a:tr>
              <a:tr h="1499761">
                <a:tc>
                  <a:txBody>
                    <a:bodyPr/>
                    <a:lstStyle/>
                    <a:p>
                      <a:pPr marL="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How irritated do your eyes feel after video conferencing?</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Extremely</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 </a:t>
                      </a:r>
                    </a:p>
                  </a:txBody>
                  <a:tcPr marL="64057" marR="64057" marT="0" marB="0">
                    <a:lnL w="12700" cap="flat" cmpd="sng" algn="ctr">
                      <a:solidFill>
                        <a:schemeClr val="tx1"/>
                      </a:solidFill>
                      <a:prstDash val="solid"/>
                      <a:round/>
                      <a:headEnd type="none" w="med" len="med"/>
                      <a:tailEnd type="none" w="med" len="med"/>
                    </a:lnL>
                  </a:tcPr>
                </a:tc>
                <a:tc>
                  <a:txBody>
                    <a:bodyPr/>
                    <a:lstStyle/>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14.7 (11)</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20 (15)</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25.3 (19)</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25.3 (19)</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14.7 (11)</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txBody>
                  <a:tcPr marL="64057" marR="64057"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659641304"/>
                  </a:ext>
                </a:extLst>
              </a:tr>
              <a:tr h="1310702">
                <a:tc>
                  <a:txBody>
                    <a:bodyPr/>
                    <a:lstStyle/>
                    <a:p>
                      <a:pPr marL="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How much do your eyes hurt after video conferencing?</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dirty="0">
                          <a:solidFill>
                            <a:schemeClr val="tx1"/>
                          </a:solidFill>
                          <a:latin typeface="Times New Roman" panose="02020603050405020304" pitchFamily="18" charset="0"/>
                          <a:cs typeface="Times New Roman" panose="02020603050405020304" pitchFamily="18" charset="0"/>
                        </a:rPr>
                        <a:t>Extremely                                                             </a:t>
                      </a:r>
                    </a:p>
                  </a:txBody>
                  <a:tcPr marL="64057" marR="64057"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12 (9)</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21.3 (16)</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21.3 (16)</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32 (24)</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13.3 (10)</a:t>
                      </a:r>
                    </a:p>
                  </a:txBody>
                  <a:tcPr marL="64057" marR="64057"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8215908"/>
                  </a:ext>
                </a:extLst>
              </a:tr>
            </a:tbl>
          </a:graphicData>
        </a:graphic>
      </p:graphicFrame>
      <p:graphicFrame>
        <p:nvGraphicFramePr>
          <p:cNvPr id="6" name="Table 5">
            <a:extLst>
              <a:ext uri="{FF2B5EF4-FFF2-40B4-BE49-F238E27FC236}">
                <a16:creationId xmlns:a16="http://schemas.microsoft.com/office/drawing/2014/main" id="{3DE7A10E-1840-CEA5-4775-7D462D75C6F5}"/>
              </a:ext>
            </a:extLst>
          </p:cNvPr>
          <p:cNvGraphicFramePr>
            <a:graphicFrameLocks noGrp="1"/>
          </p:cNvGraphicFramePr>
          <p:nvPr>
            <p:extLst>
              <p:ext uri="{D42A27DB-BD31-4B8C-83A1-F6EECF244321}">
                <p14:modId xmlns:p14="http://schemas.microsoft.com/office/powerpoint/2010/main" val="1774634034"/>
              </p:ext>
            </p:extLst>
          </p:nvPr>
        </p:nvGraphicFramePr>
        <p:xfrm>
          <a:off x="8256494" y="2336926"/>
          <a:ext cx="3895165" cy="4552760"/>
        </p:xfrm>
        <a:graphic>
          <a:graphicData uri="http://schemas.openxmlformats.org/drawingml/2006/table">
            <a:tbl>
              <a:tblPr firstRow="1" firstCol="1" bandRow="1">
                <a:tableStyleId>{5C22544A-7EE6-4342-B048-85BDC9FD1C3A}</a:tableStyleId>
              </a:tblPr>
              <a:tblGrid>
                <a:gridCol w="2434773">
                  <a:extLst>
                    <a:ext uri="{9D8B030D-6E8A-4147-A177-3AD203B41FA5}">
                      <a16:colId xmlns:a16="http://schemas.microsoft.com/office/drawing/2014/main" val="2866459564"/>
                    </a:ext>
                  </a:extLst>
                </a:gridCol>
                <a:gridCol w="1460392">
                  <a:extLst>
                    <a:ext uri="{9D8B030D-6E8A-4147-A177-3AD203B41FA5}">
                      <a16:colId xmlns:a16="http://schemas.microsoft.com/office/drawing/2014/main" val="809758384"/>
                    </a:ext>
                  </a:extLst>
                </a:gridCol>
              </a:tblGrid>
              <a:tr h="118430">
                <a:tc>
                  <a:txBody>
                    <a:bodyPr/>
                    <a:lstStyle/>
                    <a:p>
                      <a:pPr marL="0" marR="0" algn="ctr">
                        <a:lnSpc>
                          <a:spcPct val="107000"/>
                        </a:lnSpc>
                        <a:spcBef>
                          <a:spcPts val="0"/>
                        </a:spcBef>
                        <a:spcAft>
                          <a:spcPts val="0"/>
                        </a:spcAft>
                      </a:pPr>
                      <a:r>
                        <a:rPr lang="en-US" sz="9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Social Fatigue Factors</a:t>
                      </a:r>
                    </a:p>
                  </a:txBody>
                  <a:tcPr marL="61474" marR="61474"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algn="ctr">
                        <a:lnSpc>
                          <a:spcPct val="107000"/>
                        </a:lnSpc>
                        <a:spcBef>
                          <a:spcPts val="0"/>
                        </a:spcBef>
                        <a:spcAft>
                          <a:spcPts val="0"/>
                        </a:spcAft>
                      </a:pPr>
                      <a:r>
                        <a:rPr lang="en-US" sz="900" b="1" dirty="0">
                          <a:solidFill>
                            <a:schemeClr val="tx1"/>
                          </a:solidFill>
                          <a:effectLst/>
                          <a:latin typeface="Times New Roman" panose="02020603050405020304" pitchFamily="18" charset="0"/>
                          <a:cs typeface="Times New Roman" panose="02020603050405020304" pitchFamily="18" charset="0"/>
                        </a:rPr>
                        <a:t>Percentage of sample % (n)</a:t>
                      </a:r>
                      <a:endParaRPr lang="en-US" sz="9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92251208"/>
                  </a:ext>
                </a:extLst>
              </a:tr>
              <a:tr h="1363500">
                <a:tc>
                  <a:txBody>
                    <a:bodyPr/>
                    <a:lstStyle/>
                    <a:p>
                      <a:pPr marL="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How much do you tend to avoid social situations after video conferencing?</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Extremely</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endParaRPr lang="en-US" sz="11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L w="12700" cap="flat" cmpd="sng" algn="ctr">
                      <a:solidFill>
                        <a:schemeClr val="tx1"/>
                      </a:solidFill>
                      <a:prstDash val="solid"/>
                      <a:round/>
                      <a:headEnd type="none" w="med" len="med"/>
                      <a:tailEnd type="none" w="med" len="med"/>
                    </a:lnL>
                  </a:tcPr>
                </a:tc>
                <a:tc>
                  <a:txBody>
                    <a:bodyPr/>
                    <a:lstStyle/>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14.7 (11)</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22.7 (17)</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24 (18)</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33.3 (25)</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5.3 (4)</a:t>
                      </a:r>
                      <a:endParaRPr lang="en-US" sz="11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60669298"/>
                  </a:ext>
                </a:extLst>
              </a:tr>
              <a:tr h="1363500">
                <a:tc>
                  <a:txBody>
                    <a:bodyPr/>
                    <a:lstStyle/>
                    <a:p>
                      <a:pPr marL="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How much do you want to be alone after video conferencing?</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Extremely</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endParaRPr lang="en-US" sz="11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L w="12700" cap="flat" cmpd="sng" algn="ctr">
                      <a:solidFill>
                        <a:schemeClr val="tx1"/>
                      </a:solidFill>
                      <a:prstDash val="solid"/>
                      <a:round/>
                      <a:headEnd type="none" w="med" len="med"/>
                      <a:tailEnd type="none" w="med" len="med"/>
                    </a:lnL>
                  </a:tcPr>
                </a:tc>
                <a:tc>
                  <a:txBody>
                    <a:bodyPr/>
                    <a:lstStyle/>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20 (15)</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17.3 (13)</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33.3 (25)</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25.3 (19)</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4 (3)</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endParaRPr lang="en-US" sz="11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38440187"/>
                  </a:ext>
                </a:extLst>
              </a:tr>
              <a:tr h="1363500">
                <a:tc>
                  <a:txBody>
                    <a:bodyPr/>
                    <a:lstStyle/>
                    <a:p>
                      <a:pPr marL="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How much do you need time by yourself after video conferencing?</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Extremely                                                             </a:t>
                      </a:r>
                    </a:p>
                    <a:p>
                      <a:pPr marL="457200" marR="0">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endParaRPr lang="en-US" sz="11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10.7 (8)</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20 (15)</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30.7 (23)</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32 (24)</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6.7 (5)</a:t>
                      </a:r>
                      <a:endParaRPr lang="en-US" sz="11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750206"/>
                  </a:ext>
                </a:extLst>
              </a:tr>
            </a:tbl>
          </a:graphicData>
        </a:graphic>
      </p:graphicFrame>
    </p:spTree>
    <p:extLst>
      <p:ext uri="{BB962C8B-B14F-4D97-AF65-F5344CB8AC3E}">
        <p14:creationId xmlns:p14="http://schemas.microsoft.com/office/powerpoint/2010/main" val="3269312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E5305-F9FD-EF38-B701-B2662888C274}"/>
              </a:ext>
            </a:extLst>
          </p:cNvPr>
          <p:cNvSpPr>
            <a:spLocks noGrp="1"/>
          </p:cNvSpPr>
          <p:nvPr>
            <p:ph type="title"/>
          </p:nvPr>
        </p:nvSpPr>
        <p:spPr>
          <a:xfrm>
            <a:off x="3632947" y="264038"/>
            <a:ext cx="4926106" cy="720444"/>
          </a:xfrm>
        </p:spPr>
        <p:txBody>
          <a:bodyPr/>
          <a:lstStyle/>
          <a:p>
            <a:r>
              <a:rPr lang="en-US" sz="3200" b="1" dirty="0">
                <a:latin typeface="Times New Roman" panose="02020603050405020304" pitchFamily="18" charset="0"/>
                <a:cs typeface="Times New Roman" panose="02020603050405020304" pitchFamily="18" charset="0"/>
              </a:rPr>
              <a:t>Chapter 3 : Results</a:t>
            </a:r>
            <a:endParaRPr lang="en-US" sz="3200" dirty="0"/>
          </a:p>
        </p:txBody>
      </p:sp>
      <p:graphicFrame>
        <p:nvGraphicFramePr>
          <p:cNvPr id="4" name="Content Placeholder 3">
            <a:extLst>
              <a:ext uri="{FF2B5EF4-FFF2-40B4-BE49-F238E27FC236}">
                <a16:creationId xmlns:a16="http://schemas.microsoft.com/office/drawing/2014/main" id="{72E6856A-0303-53E3-A3F2-8E0B00136E6B}"/>
              </a:ext>
            </a:extLst>
          </p:cNvPr>
          <p:cNvGraphicFramePr>
            <a:graphicFrameLocks noGrp="1"/>
          </p:cNvGraphicFramePr>
          <p:nvPr>
            <p:ph idx="1"/>
            <p:extLst>
              <p:ext uri="{D42A27DB-BD31-4B8C-83A1-F6EECF244321}">
                <p14:modId xmlns:p14="http://schemas.microsoft.com/office/powerpoint/2010/main" val="2874899728"/>
              </p:ext>
            </p:extLst>
          </p:nvPr>
        </p:nvGraphicFramePr>
        <p:xfrm>
          <a:off x="620806" y="1748119"/>
          <a:ext cx="4663888" cy="4470410"/>
        </p:xfrm>
        <a:graphic>
          <a:graphicData uri="http://schemas.openxmlformats.org/drawingml/2006/table">
            <a:tbl>
              <a:tblPr firstRow="1" firstCol="1" bandRow="1">
                <a:tableStyleId>{5C22544A-7EE6-4342-B048-85BDC9FD1C3A}</a:tableStyleId>
              </a:tblPr>
              <a:tblGrid>
                <a:gridCol w="2675965">
                  <a:extLst>
                    <a:ext uri="{9D8B030D-6E8A-4147-A177-3AD203B41FA5}">
                      <a16:colId xmlns:a16="http://schemas.microsoft.com/office/drawing/2014/main" val="2355250486"/>
                    </a:ext>
                  </a:extLst>
                </a:gridCol>
                <a:gridCol w="1987923">
                  <a:extLst>
                    <a:ext uri="{9D8B030D-6E8A-4147-A177-3AD203B41FA5}">
                      <a16:colId xmlns:a16="http://schemas.microsoft.com/office/drawing/2014/main" val="3235546410"/>
                    </a:ext>
                  </a:extLst>
                </a:gridCol>
              </a:tblGrid>
              <a:tr h="173529">
                <a:tc>
                  <a:txBody>
                    <a:bodyPr/>
                    <a:lstStyle/>
                    <a:p>
                      <a:pPr marL="0" marR="0" algn="ctr">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Motivational Fatigue Factors</a:t>
                      </a:r>
                    </a:p>
                  </a:txBody>
                  <a:tcPr marL="63941" marR="63941"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algn="ctr">
                        <a:lnSpc>
                          <a:spcPct val="107000"/>
                        </a:lnSpc>
                        <a:spcBef>
                          <a:spcPts val="0"/>
                        </a:spcBef>
                        <a:spcAft>
                          <a:spcPts val="0"/>
                        </a:spcAft>
                      </a:pPr>
                      <a:r>
                        <a:rPr lang="en-US" sz="1100" b="1">
                          <a:solidFill>
                            <a:schemeClr val="tx1"/>
                          </a:solidFill>
                          <a:latin typeface="Times New Roman" panose="02020603050405020304" pitchFamily="18" charset="0"/>
                          <a:cs typeface="Times New Roman" panose="02020603050405020304" pitchFamily="18" charset="0"/>
                        </a:rPr>
                        <a:t>Percentage of sample % (n)</a:t>
                      </a:r>
                    </a:p>
                  </a:txBody>
                  <a:tcPr marL="63941" marR="63941"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69035037"/>
                  </a:ext>
                </a:extLst>
              </a:tr>
              <a:tr h="1268941">
                <a:tc>
                  <a:txBody>
                    <a:bodyPr/>
                    <a:lstStyle/>
                    <a:p>
                      <a:pPr marL="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How much do you dread having to do things after video conferencing?</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Extremely</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txBody>
                  <a:tcPr marL="63941" marR="63941" marT="0" marB="0">
                    <a:lnL w="12700" cap="flat" cmpd="sng" algn="ctr">
                      <a:solidFill>
                        <a:schemeClr val="tx1"/>
                      </a:solidFill>
                      <a:prstDash val="solid"/>
                      <a:round/>
                      <a:headEnd type="none" w="med" len="med"/>
                      <a:tailEnd type="none" w="med" len="med"/>
                    </a:lnL>
                  </a:tcPr>
                </a:tc>
                <a:tc>
                  <a:txBody>
                    <a:bodyPr/>
                    <a:lstStyle/>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14.7 (11)</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17.3 (13)</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30.7 (23)</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29.3 (22)</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8 (6)</a:t>
                      </a:r>
                    </a:p>
                  </a:txBody>
                  <a:tcPr marL="63941" marR="63941"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15275339"/>
                  </a:ext>
                </a:extLst>
              </a:tr>
              <a:tr h="1361788">
                <a:tc>
                  <a:txBody>
                    <a:bodyPr/>
                    <a:lstStyle/>
                    <a:p>
                      <a:pPr marL="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How often do you feel like doing nothing after video conferencing?</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Extremely</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txBody>
                  <a:tcPr marL="63941" marR="63941" marT="0" marB="0">
                    <a:lnL w="12700" cap="flat" cmpd="sng" algn="ctr">
                      <a:solidFill>
                        <a:schemeClr val="tx1"/>
                      </a:solidFill>
                      <a:prstDash val="solid"/>
                      <a:round/>
                      <a:headEnd type="none" w="med" len="med"/>
                      <a:tailEnd type="none" w="med" len="med"/>
                    </a:lnL>
                  </a:tcPr>
                </a:tc>
                <a:tc>
                  <a:txBody>
                    <a:bodyPr/>
                    <a:lstStyle/>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17.3 (13)</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18.7 (14)</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17.3 (13)</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36 (27)</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10.7 (8)</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txBody>
                  <a:tcPr marL="63941" marR="63941"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92387474"/>
                  </a:ext>
                </a:extLst>
              </a:tr>
              <a:tr h="1450811">
                <a:tc>
                  <a:txBody>
                    <a:bodyPr/>
                    <a:lstStyle/>
                    <a:p>
                      <a:pPr marL="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How often do you feel too tired to do other things after video conferencing?</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Extremely                                                             </a:t>
                      </a:r>
                    </a:p>
                    <a:p>
                      <a:pPr marL="457200" marR="0">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txBody>
                  <a:tcPr marL="63941" marR="63941"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13.3 (10)</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25.3 (19)</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20 (15)</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29.3 (22)</a:t>
                      </a:r>
                    </a:p>
                    <a:p>
                      <a:pPr marL="0" marR="0" algn="l">
                        <a:lnSpc>
                          <a:spcPct val="107000"/>
                        </a:lnSpc>
                        <a:spcBef>
                          <a:spcPts val="0"/>
                        </a:spcBef>
                        <a:spcAft>
                          <a:spcPts val="0"/>
                        </a:spcAft>
                      </a:pPr>
                      <a:r>
                        <a:rPr lang="en-US" sz="1100" b="1" dirty="0">
                          <a:solidFill>
                            <a:schemeClr val="tx1"/>
                          </a:solidFill>
                          <a:latin typeface="Times New Roman" panose="02020603050405020304" pitchFamily="18" charset="0"/>
                          <a:cs typeface="Times New Roman" panose="02020603050405020304" pitchFamily="18" charset="0"/>
                        </a:rPr>
                        <a:t>12 (9)</a:t>
                      </a:r>
                    </a:p>
                  </a:txBody>
                  <a:tcPr marL="63941" marR="63941"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1725843"/>
                  </a:ext>
                </a:extLst>
              </a:tr>
            </a:tbl>
          </a:graphicData>
        </a:graphic>
      </p:graphicFrame>
      <p:sp>
        <p:nvSpPr>
          <p:cNvPr id="6" name="TextBox 5">
            <a:extLst>
              <a:ext uri="{FF2B5EF4-FFF2-40B4-BE49-F238E27FC236}">
                <a16:creationId xmlns:a16="http://schemas.microsoft.com/office/drawing/2014/main" id="{8EF9F14B-E7C6-8F5B-3074-F3A8AA1DB449}"/>
              </a:ext>
            </a:extLst>
          </p:cNvPr>
          <p:cNvSpPr txBox="1"/>
          <p:nvPr/>
        </p:nvSpPr>
        <p:spPr>
          <a:xfrm>
            <a:off x="722780" y="1084374"/>
            <a:ext cx="6098240" cy="369332"/>
          </a:xfrm>
          <a:prstGeom prst="rect">
            <a:avLst/>
          </a:prstGeom>
          <a:noFill/>
        </p:spPr>
        <p:txBody>
          <a:bodyPr wrap="square">
            <a:spAutoFit/>
          </a:bodyPr>
          <a:lstStyle/>
          <a:p>
            <a:pPr marL="0" indent="0">
              <a:buNone/>
            </a:pPr>
            <a:r>
              <a:rPr lang="en-US" sz="1800" b="1" dirty="0">
                <a:latin typeface="Times New Roman" panose="02020603050405020304" pitchFamily="18" charset="0"/>
                <a:cs typeface="Times New Roman" panose="02020603050405020304" pitchFamily="18" charset="0"/>
              </a:rPr>
              <a:t>Zoom exhaustion and fatigue scale (continue…)</a:t>
            </a:r>
          </a:p>
        </p:txBody>
      </p:sp>
      <p:graphicFrame>
        <p:nvGraphicFramePr>
          <p:cNvPr id="7" name="Table 6">
            <a:extLst>
              <a:ext uri="{FF2B5EF4-FFF2-40B4-BE49-F238E27FC236}">
                <a16:creationId xmlns:a16="http://schemas.microsoft.com/office/drawing/2014/main" id="{58FFFD61-102A-BDB7-3963-1DE1B07BB382}"/>
              </a:ext>
            </a:extLst>
          </p:cNvPr>
          <p:cNvGraphicFramePr>
            <a:graphicFrameLocks noGrp="1"/>
          </p:cNvGraphicFramePr>
          <p:nvPr>
            <p:extLst>
              <p:ext uri="{D42A27DB-BD31-4B8C-83A1-F6EECF244321}">
                <p14:modId xmlns:p14="http://schemas.microsoft.com/office/powerpoint/2010/main" val="986359137"/>
              </p:ext>
            </p:extLst>
          </p:nvPr>
        </p:nvGraphicFramePr>
        <p:xfrm>
          <a:off x="6096000" y="1759019"/>
          <a:ext cx="4661647" cy="4448609"/>
        </p:xfrm>
        <a:graphic>
          <a:graphicData uri="http://schemas.openxmlformats.org/drawingml/2006/table">
            <a:tbl>
              <a:tblPr firstRow="1" firstCol="1" bandRow="1">
                <a:tableStyleId>{5C22544A-7EE6-4342-B048-85BDC9FD1C3A}</a:tableStyleId>
              </a:tblPr>
              <a:tblGrid>
                <a:gridCol w="2610226">
                  <a:extLst>
                    <a:ext uri="{9D8B030D-6E8A-4147-A177-3AD203B41FA5}">
                      <a16:colId xmlns:a16="http://schemas.microsoft.com/office/drawing/2014/main" val="1509474098"/>
                    </a:ext>
                  </a:extLst>
                </a:gridCol>
                <a:gridCol w="2051421">
                  <a:extLst>
                    <a:ext uri="{9D8B030D-6E8A-4147-A177-3AD203B41FA5}">
                      <a16:colId xmlns:a16="http://schemas.microsoft.com/office/drawing/2014/main" val="880854937"/>
                    </a:ext>
                  </a:extLst>
                </a:gridCol>
              </a:tblGrid>
              <a:tr h="168604">
                <a:tc>
                  <a:txBody>
                    <a:bodyPr/>
                    <a:lstStyle/>
                    <a:p>
                      <a:pPr marL="0" marR="0" algn="ctr">
                        <a:lnSpc>
                          <a:spcPct val="107000"/>
                        </a:lnSpc>
                        <a:spcBef>
                          <a:spcPts val="0"/>
                        </a:spcBef>
                        <a:spcAft>
                          <a:spcPts val="0"/>
                        </a:spcAft>
                      </a:pP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Emotional Fatigue Factors</a:t>
                      </a:r>
                    </a:p>
                  </a:txBody>
                  <a:tcPr marL="61474" marR="61474"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algn="ctr">
                        <a:lnSpc>
                          <a:spcPct val="107000"/>
                        </a:lnSpc>
                        <a:spcBef>
                          <a:spcPts val="0"/>
                        </a:spcBef>
                        <a:spcAft>
                          <a:spcPts val="0"/>
                        </a:spcAft>
                      </a:pPr>
                      <a:r>
                        <a:rPr lang="en-US" sz="1100">
                          <a:solidFill>
                            <a:schemeClr val="tx1"/>
                          </a:solidFill>
                          <a:effectLst/>
                          <a:latin typeface="Times New Roman" panose="02020603050405020304" pitchFamily="18" charset="0"/>
                          <a:cs typeface="Times New Roman" panose="02020603050405020304" pitchFamily="18" charset="0"/>
                        </a:rPr>
                        <a:t>Percentage of sample % (n)</a:t>
                      </a:r>
                      <a:endPar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27060716"/>
                  </a:ext>
                </a:extLst>
              </a:tr>
              <a:tr h="1310570">
                <a:tc>
                  <a:txBody>
                    <a:bodyPr/>
                    <a:lstStyle/>
                    <a:p>
                      <a:pPr marL="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How emotionally drained do you feel after video conferencing?</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Extremely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 </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L w="12700" cap="flat" cmpd="sng" algn="ctr">
                      <a:solidFill>
                        <a:schemeClr val="tx1"/>
                      </a:solidFill>
                      <a:prstDash val="solid"/>
                      <a:round/>
                      <a:headEnd type="none" w="med" len="med"/>
                      <a:tailEnd type="none" w="med" len="med"/>
                    </a:lnL>
                  </a:tcPr>
                </a:tc>
                <a:tc>
                  <a:txBody>
                    <a:bodyPr/>
                    <a:lstStyle/>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14.7 (11)</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18.7 (14)</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28 (21)</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26.7 (20)</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12 (9)</a:t>
                      </a:r>
                      <a:endParaRPr lang="en-US" sz="11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25997312"/>
                  </a:ext>
                </a:extLst>
              </a:tr>
              <a:tr h="1272582">
                <a:tc>
                  <a:txBody>
                    <a:bodyPr/>
                    <a:lstStyle/>
                    <a:p>
                      <a:pPr marL="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How irritable do you feel after video conferencing?</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Extremely</a:t>
                      </a:r>
                    </a:p>
                    <a:p>
                      <a:pPr marL="457200" marR="0">
                        <a:lnSpc>
                          <a:spcPct val="107000"/>
                        </a:lnSpc>
                        <a:spcBef>
                          <a:spcPts val="0"/>
                        </a:spcBef>
                        <a:spcAft>
                          <a:spcPts val="0"/>
                        </a:spcAft>
                      </a:pPr>
                      <a:r>
                        <a:rPr lang="en-US" sz="1100" dirty="0">
                          <a:solidFill>
                            <a:schemeClr val="tx1"/>
                          </a:solidFill>
                          <a:effectLst/>
                          <a:latin typeface="Times New Roman" panose="02020603050405020304" pitchFamily="18" charset="0"/>
                          <a:cs typeface="Times New Roman" panose="02020603050405020304" pitchFamily="18" charset="0"/>
                        </a:rPr>
                        <a:t> </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L w="12700" cap="flat" cmpd="sng" algn="ctr">
                      <a:solidFill>
                        <a:schemeClr val="tx1"/>
                      </a:solidFill>
                      <a:prstDash val="solid"/>
                      <a:round/>
                      <a:headEnd type="none" w="med" len="med"/>
                      <a:tailEnd type="none" w="med" len="med"/>
                    </a:lnL>
                  </a:tcPr>
                </a:tc>
                <a:tc>
                  <a:txBody>
                    <a:bodyPr/>
                    <a:lstStyle/>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13.3 (10)</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17.3 (13)</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22.7 (17)</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38.7 (29)</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8 (6)</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endParaRPr lang="en-US" sz="11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70521466"/>
                  </a:ext>
                </a:extLst>
              </a:tr>
              <a:tr h="1433935">
                <a:tc>
                  <a:txBody>
                    <a:bodyPr/>
                    <a:lstStyle/>
                    <a:p>
                      <a:pPr marL="0" marR="0">
                        <a:lnSpc>
                          <a:spcPct val="107000"/>
                        </a:lnSpc>
                        <a:spcBef>
                          <a:spcPts val="0"/>
                        </a:spcBef>
                        <a:spcAft>
                          <a:spcPts val="0"/>
                        </a:spcAft>
                      </a:pPr>
                      <a:r>
                        <a:rPr lang="en-US" sz="1100">
                          <a:solidFill>
                            <a:schemeClr val="tx1"/>
                          </a:solidFill>
                          <a:effectLst/>
                          <a:latin typeface="Times New Roman" panose="02020603050405020304" pitchFamily="18" charset="0"/>
                          <a:cs typeface="Times New Roman" panose="02020603050405020304" pitchFamily="18" charset="0"/>
                        </a:rPr>
                        <a:t>How moody do you feel after video conferencing?</a:t>
                      </a:r>
                    </a:p>
                    <a:p>
                      <a:pPr marL="457200" marR="0">
                        <a:lnSpc>
                          <a:spcPct val="107000"/>
                        </a:lnSpc>
                        <a:spcBef>
                          <a:spcPts val="0"/>
                        </a:spcBef>
                        <a:spcAft>
                          <a:spcPts val="0"/>
                        </a:spcAft>
                      </a:pPr>
                      <a:r>
                        <a:rPr lang="en-US" sz="1100">
                          <a:solidFill>
                            <a:schemeClr val="tx1"/>
                          </a:solidFill>
                          <a:effectLst/>
                          <a:latin typeface="Times New Roman" panose="02020603050405020304" pitchFamily="18" charset="0"/>
                          <a:cs typeface="Times New Roman" panose="02020603050405020304" pitchFamily="18" charset="0"/>
                        </a:rPr>
                        <a:t>Not at all</a:t>
                      </a:r>
                    </a:p>
                    <a:p>
                      <a:pPr marL="457200" marR="0">
                        <a:lnSpc>
                          <a:spcPct val="107000"/>
                        </a:lnSpc>
                        <a:spcBef>
                          <a:spcPts val="0"/>
                        </a:spcBef>
                        <a:spcAft>
                          <a:spcPts val="0"/>
                        </a:spcAft>
                      </a:pPr>
                      <a:r>
                        <a:rPr lang="en-US" sz="1100">
                          <a:solidFill>
                            <a:schemeClr val="tx1"/>
                          </a:solidFill>
                          <a:effectLst/>
                          <a:latin typeface="Times New Roman" panose="02020603050405020304" pitchFamily="18" charset="0"/>
                          <a:cs typeface="Times New Roman" panose="02020603050405020304" pitchFamily="18" charset="0"/>
                        </a:rPr>
                        <a:t>Slightly</a:t>
                      </a:r>
                    </a:p>
                    <a:p>
                      <a:pPr marL="457200" marR="0">
                        <a:lnSpc>
                          <a:spcPct val="107000"/>
                        </a:lnSpc>
                        <a:spcBef>
                          <a:spcPts val="0"/>
                        </a:spcBef>
                        <a:spcAft>
                          <a:spcPts val="0"/>
                        </a:spcAft>
                      </a:pPr>
                      <a:r>
                        <a:rPr lang="en-US" sz="1100">
                          <a:solidFill>
                            <a:schemeClr val="tx1"/>
                          </a:solidFill>
                          <a:effectLst/>
                          <a:latin typeface="Times New Roman" panose="02020603050405020304" pitchFamily="18" charset="0"/>
                          <a:cs typeface="Times New Roman" panose="02020603050405020304" pitchFamily="18" charset="0"/>
                        </a:rPr>
                        <a:t>Moderately</a:t>
                      </a:r>
                    </a:p>
                    <a:p>
                      <a:pPr marL="457200" marR="0">
                        <a:lnSpc>
                          <a:spcPct val="107000"/>
                        </a:lnSpc>
                        <a:spcBef>
                          <a:spcPts val="0"/>
                        </a:spcBef>
                        <a:spcAft>
                          <a:spcPts val="0"/>
                        </a:spcAft>
                      </a:pPr>
                      <a:r>
                        <a:rPr lang="en-US" sz="1100">
                          <a:solidFill>
                            <a:schemeClr val="tx1"/>
                          </a:solidFill>
                          <a:effectLst/>
                          <a:latin typeface="Times New Roman" panose="02020603050405020304" pitchFamily="18" charset="0"/>
                          <a:cs typeface="Times New Roman" panose="02020603050405020304" pitchFamily="18" charset="0"/>
                        </a:rPr>
                        <a:t>Very</a:t>
                      </a:r>
                    </a:p>
                    <a:p>
                      <a:pPr marL="457200" marR="0">
                        <a:lnSpc>
                          <a:spcPct val="107000"/>
                        </a:lnSpc>
                        <a:spcBef>
                          <a:spcPts val="0"/>
                        </a:spcBef>
                        <a:spcAft>
                          <a:spcPts val="0"/>
                        </a:spcAft>
                      </a:pPr>
                      <a:r>
                        <a:rPr lang="en-US" sz="1100">
                          <a:solidFill>
                            <a:schemeClr val="tx1"/>
                          </a:solidFill>
                          <a:effectLst/>
                          <a:latin typeface="Times New Roman" panose="02020603050405020304" pitchFamily="18" charset="0"/>
                          <a:cs typeface="Times New Roman" panose="02020603050405020304" pitchFamily="18" charset="0"/>
                        </a:rPr>
                        <a:t>Extremely                                                             </a:t>
                      </a:r>
                    </a:p>
                    <a:p>
                      <a:pPr marL="457200" marR="0">
                        <a:lnSpc>
                          <a:spcPct val="107000"/>
                        </a:lnSpc>
                        <a:spcBef>
                          <a:spcPts val="0"/>
                        </a:spcBef>
                        <a:spcAft>
                          <a:spcPts val="0"/>
                        </a:spcAft>
                      </a:pPr>
                      <a:r>
                        <a:rPr lang="en-US" sz="1100">
                          <a:solidFill>
                            <a:schemeClr val="tx1"/>
                          </a:solidFill>
                          <a:effectLst/>
                          <a:latin typeface="Times New Roman" panose="02020603050405020304" pitchFamily="18" charset="0"/>
                          <a:cs typeface="Times New Roman" panose="02020603050405020304" pitchFamily="18" charset="0"/>
                        </a:rPr>
                        <a:t> </a:t>
                      </a:r>
                      <a:endPar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 </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9.3 (7)</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25.3 (19)</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29.3 (22)</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32 (24)</a:t>
                      </a:r>
                    </a:p>
                    <a:p>
                      <a:pPr marL="0" marR="0" algn="l">
                        <a:lnSpc>
                          <a:spcPct val="107000"/>
                        </a:lnSpc>
                        <a:spcBef>
                          <a:spcPts val="0"/>
                        </a:spcBef>
                        <a:spcAft>
                          <a:spcPts val="0"/>
                        </a:spcAft>
                      </a:pPr>
                      <a:r>
                        <a:rPr lang="en-US" sz="1100" b="1" dirty="0">
                          <a:solidFill>
                            <a:schemeClr val="tx1"/>
                          </a:solidFill>
                          <a:effectLst/>
                          <a:latin typeface="Times New Roman" panose="02020603050405020304" pitchFamily="18" charset="0"/>
                          <a:cs typeface="Times New Roman" panose="02020603050405020304" pitchFamily="18" charset="0"/>
                        </a:rPr>
                        <a:t>4 (3)</a:t>
                      </a:r>
                      <a:endParaRPr lang="en-US" sz="11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474" marR="61474"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3210503"/>
                  </a:ext>
                </a:extLst>
              </a:tr>
            </a:tbl>
          </a:graphicData>
        </a:graphic>
      </p:graphicFrame>
    </p:spTree>
    <p:extLst>
      <p:ext uri="{BB962C8B-B14F-4D97-AF65-F5344CB8AC3E}">
        <p14:creationId xmlns:p14="http://schemas.microsoft.com/office/powerpoint/2010/main" val="1214581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E81AB-0300-7BF8-6D35-7538E6FD7581}"/>
              </a:ext>
            </a:extLst>
          </p:cNvPr>
          <p:cNvSpPr>
            <a:spLocks noGrp="1"/>
          </p:cNvSpPr>
          <p:nvPr>
            <p:ph type="title"/>
          </p:nvPr>
        </p:nvSpPr>
        <p:spPr>
          <a:xfrm>
            <a:off x="3848100" y="368772"/>
            <a:ext cx="4495799" cy="706996"/>
          </a:xfrm>
        </p:spPr>
        <p:txBody>
          <a:bodyPr/>
          <a:lstStyle/>
          <a:p>
            <a:r>
              <a:rPr lang="en-US" sz="3200" b="1" dirty="0">
                <a:latin typeface="Times New Roman" panose="02020603050405020304" pitchFamily="18" charset="0"/>
                <a:cs typeface="Times New Roman" panose="02020603050405020304" pitchFamily="18" charset="0"/>
              </a:rPr>
              <a:t>Chapter 3 : Results</a:t>
            </a:r>
            <a:endParaRPr lang="en-US" sz="3200" dirty="0"/>
          </a:p>
        </p:txBody>
      </p:sp>
      <p:sp>
        <p:nvSpPr>
          <p:cNvPr id="3" name="Content Placeholder 2">
            <a:extLst>
              <a:ext uri="{FF2B5EF4-FFF2-40B4-BE49-F238E27FC236}">
                <a16:creationId xmlns:a16="http://schemas.microsoft.com/office/drawing/2014/main" id="{1327A89E-84EE-8EC5-1AF1-DAD9D45B0868}"/>
              </a:ext>
            </a:extLst>
          </p:cNvPr>
          <p:cNvSpPr>
            <a:spLocks noGrp="1"/>
          </p:cNvSpPr>
          <p:nvPr>
            <p:ph idx="1"/>
          </p:nvPr>
        </p:nvSpPr>
        <p:spPr>
          <a:xfrm>
            <a:off x="488576" y="1075768"/>
            <a:ext cx="10972800" cy="4525963"/>
          </a:xfrm>
        </p:spPr>
        <p:txBody>
          <a:bodyPr/>
          <a:lstStyle/>
          <a:p>
            <a:pPr marL="0" indent="0" algn="just">
              <a:buNone/>
            </a:pPr>
            <a:r>
              <a:rPr lang="en-US" sz="1800" b="1" dirty="0">
                <a:latin typeface="Times New Roman" panose="02020603050405020304" pitchFamily="18" charset="0"/>
                <a:cs typeface="Times New Roman" panose="02020603050405020304" pitchFamily="18" charset="0"/>
              </a:rPr>
              <a:t>Age and Monthly income variables among private-sector work from home employees in Colombo district. </a:t>
            </a: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Since the values are not falling between -1.96 to +1.96, the data distribution was taken as not normally distributed, hence chi-square test was used to analyze the associations. </a:t>
            </a:r>
          </a:p>
          <a:p>
            <a:pPr marL="0" indent="0">
              <a:buNone/>
            </a:pPr>
            <a:endParaRPr lang="en-US" dirty="0"/>
          </a:p>
        </p:txBody>
      </p:sp>
      <p:graphicFrame>
        <p:nvGraphicFramePr>
          <p:cNvPr id="4" name="Table 3">
            <a:extLst>
              <a:ext uri="{FF2B5EF4-FFF2-40B4-BE49-F238E27FC236}">
                <a16:creationId xmlns:a16="http://schemas.microsoft.com/office/drawing/2014/main" id="{FD278878-9F16-93D2-896D-6C9D2712C525}"/>
              </a:ext>
            </a:extLst>
          </p:cNvPr>
          <p:cNvGraphicFramePr>
            <a:graphicFrameLocks noGrp="1"/>
          </p:cNvGraphicFramePr>
          <p:nvPr>
            <p:extLst>
              <p:ext uri="{D42A27DB-BD31-4B8C-83A1-F6EECF244321}">
                <p14:modId xmlns:p14="http://schemas.microsoft.com/office/powerpoint/2010/main" val="3618650289"/>
              </p:ext>
            </p:extLst>
          </p:nvPr>
        </p:nvGraphicFramePr>
        <p:xfrm>
          <a:off x="488576" y="1635713"/>
          <a:ext cx="7377953" cy="1493827"/>
        </p:xfrm>
        <a:graphic>
          <a:graphicData uri="http://schemas.openxmlformats.org/drawingml/2006/table">
            <a:tbl>
              <a:tblPr firstRow="1" firstCol="1" bandRow="1">
                <a:tableStyleId>{5C22544A-7EE6-4342-B048-85BDC9FD1C3A}</a:tableStyleId>
              </a:tblPr>
              <a:tblGrid>
                <a:gridCol w="1677810">
                  <a:extLst>
                    <a:ext uri="{9D8B030D-6E8A-4147-A177-3AD203B41FA5}">
                      <a16:colId xmlns:a16="http://schemas.microsoft.com/office/drawing/2014/main" val="186283677"/>
                    </a:ext>
                  </a:extLst>
                </a:gridCol>
                <a:gridCol w="1584504">
                  <a:extLst>
                    <a:ext uri="{9D8B030D-6E8A-4147-A177-3AD203B41FA5}">
                      <a16:colId xmlns:a16="http://schemas.microsoft.com/office/drawing/2014/main" val="4180374089"/>
                    </a:ext>
                  </a:extLst>
                </a:gridCol>
                <a:gridCol w="1212128">
                  <a:extLst>
                    <a:ext uri="{9D8B030D-6E8A-4147-A177-3AD203B41FA5}">
                      <a16:colId xmlns:a16="http://schemas.microsoft.com/office/drawing/2014/main" val="2832536355"/>
                    </a:ext>
                  </a:extLst>
                </a:gridCol>
                <a:gridCol w="1403829">
                  <a:extLst>
                    <a:ext uri="{9D8B030D-6E8A-4147-A177-3AD203B41FA5}">
                      <a16:colId xmlns:a16="http://schemas.microsoft.com/office/drawing/2014/main" val="3432114466"/>
                    </a:ext>
                  </a:extLst>
                </a:gridCol>
                <a:gridCol w="1499682">
                  <a:extLst>
                    <a:ext uri="{9D8B030D-6E8A-4147-A177-3AD203B41FA5}">
                      <a16:colId xmlns:a16="http://schemas.microsoft.com/office/drawing/2014/main" val="3657889416"/>
                    </a:ext>
                  </a:extLst>
                </a:gridCol>
              </a:tblGrid>
              <a:tr h="582983">
                <a:tc>
                  <a:txBody>
                    <a:bodyPr/>
                    <a:lstStyle/>
                    <a:p>
                      <a:pPr marL="0" marR="0" algn="ctr">
                        <a:lnSpc>
                          <a:spcPct val="107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Variable</a:t>
                      </a:r>
                    </a:p>
                  </a:txBody>
                  <a:tcPr marL="68580" marR="68580" marT="0" marB="0"/>
                </a:tc>
                <a:tc>
                  <a:txBody>
                    <a:bodyPr/>
                    <a:lstStyle/>
                    <a:p>
                      <a:pPr marL="0" marR="0" algn="ctr">
                        <a:lnSpc>
                          <a:spcPct val="107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Mean</a:t>
                      </a:r>
                    </a:p>
                  </a:txBody>
                  <a:tcPr marL="68580" marR="68580" marT="0" marB="0"/>
                </a:tc>
                <a:tc>
                  <a:txBody>
                    <a:bodyPr/>
                    <a:lstStyle/>
                    <a:p>
                      <a:pPr marL="0" marR="0" algn="ctr">
                        <a:lnSpc>
                          <a:spcPct val="10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Standard Deviation</a:t>
                      </a:r>
                    </a:p>
                  </a:txBody>
                  <a:tcPr marL="68580" marR="68580" marT="0" marB="0"/>
                </a:tc>
                <a:tc>
                  <a:txBody>
                    <a:bodyPr/>
                    <a:lstStyle/>
                    <a:p>
                      <a:pPr marL="0" marR="0" algn="ctr">
                        <a:lnSpc>
                          <a:spcPct val="10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Skewness</a:t>
                      </a:r>
                    </a:p>
                  </a:txBody>
                  <a:tcPr marL="68580" marR="68580" marT="0" marB="0"/>
                </a:tc>
                <a:tc>
                  <a:txBody>
                    <a:bodyPr/>
                    <a:lstStyle/>
                    <a:p>
                      <a:pPr marL="0" marR="0" algn="ctr">
                        <a:lnSpc>
                          <a:spcPct val="107000"/>
                        </a:lnSpc>
                        <a:spcBef>
                          <a:spcPts val="0"/>
                        </a:spcBef>
                        <a:spcAft>
                          <a:spcPts val="0"/>
                        </a:spcAft>
                      </a:pPr>
                      <a:r>
                        <a:rPr lang="en-US" sz="1800">
                          <a:solidFill>
                            <a:schemeClr val="tx1"/>
                          </a:solidFill>
                          <a:latin typeface="Times New Roman" panose="02020603050405020304" pitchFamily="18" charset="0"/>
                          <a:cs typeface="Times New Roman" panose="02020603050405020304" pitchFamily="18" charset="0"/>
                        </a:rPr>
                        <a:t>Kurtosis</a:t>
                      </a:r>
                    </a:p>
                  </a:txBody>
                  <a:tcPr marL="68580" marR="68580" marT="0" marB="0"/>
                </a:tc>
                <a:extLst>
                  <a:ext uri="{0D108BD9-81ED-4DB2-BD59-A6C34878D82A}">
                    <a16:rowId xmlns:a16="http://schemas.microsoft.com/office/drawing/2014/main" val="3835578396"/>
                  </a:ext>
                </a:extLst>
              </a:tr>
              <a:tr h="264064">
                <a:tc>
                  <a:txBody>
                    <a:bodyPr/>
                    <a:lstStyle/>
                    <a:p>
                      <a:pPr marL="0" marR="0">
                        <a:lnSpc>
                          <a:spcPct val="15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Age</a:t>
                      </a:r>
                    </a:p>
                  </a:txBody>
                  <a:tcPr marL="68580" marR="68580" marT="0" marB="0"/>
                </a:tc>
                <a:tc>
                  <a:txBody>
                    <a:bodyPr/>
                    <a:lstStyle/>
                    <a:p>
                      <a:pPr marL="0" marR="0" algn="r">
                        <a:lnSpc>
                          <a:spcPct val="150000"/>
                        </a:lnSpc>
                        <a:spcBef>
                          <a:spcPts val="0"/>
                        </a:spcBef>
                        <a:spcAft>
                          <a:spcPts val="0"/>
                        </a:spcAft>
                      </a:pPr>
                      <a:r>
                        <a:rPr lang="en-US" sz="1800">
                          <a:solidFill>
                            <a:schemeClr val="tx1"/>
                          </a:solidFill>
                          <a:latin typeface="Times New Roman" panose="02020603050405020304" pitchFamily="18" charset="0"/>
                          <a:cs typeface="Times New Roman" panose="02020603050405020304" pitchFamily="18" charset="0"/>
                        </a:rPr>
                        <a:t>29.21</a:t>
                      </a:r>
                    </a:p>
                  </a:txBody>
                  <a:tcPr marL="68580" marR="68580" marT="0" marB="0"/>
                </a:tc>
                <a:tc>
                  <a:txBody>
                    <a:bodyPr/>
                    <a:lstStyle/>
                    <a:p>
                      <a:pPr marL="0" marR="0" algn="r">
                        <a:lnSpc>
                          <a:spcPct val="150000"/>
                        </a:lnSpc>
                        <a:spcBef>
                          <a:spcPts val="0"/>
                        </a:spcBef>
                        <a:spcAft>
                          <a:spcPts val="0"/>
                        </a:spcAft>
                      </a:pPr>
                      <a:r>
                        <a:rPr lang="en-US" sz="1800">
                          <a:solidFill>
                            <a:schemeClr val="tx1"/>
                          </a:solidFill>
                          <a:latin typeface="Times New Roman" panose="02020603050405020304" pitchFamily="18" charset="0"/>
                          <a:cs typeface="Times New Roman" panose="02020603050405020304" pitchFamily="18" charset="0"/>
                        </a:rPr>
                        <a:t>6.418</a:t>
                      </a:r>
                    </a:p>
                  </a:txBody>
                  <a:tcPr marL="68580" marR="68580" marT="0" marB="0"/>
                </a:tc>
                <a:tc>
                  <a:txBody>
                    <a:bodyPr/>
                    <a:lstStyle/>
                    <a:p>
                      <a:pPr marL="0" marR="0" algn="r">
                        <a:lnSpc>
                          <a:spcPct val="15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0.971</a:t>
                      </a:r>
                    </a:p>
                  </a:txBody>
                  <a:tcPr marL="68580" marR="68580" marT="0" marB="0"/>
                </a:tc>
                <a:tc>
                  <a:txBody>
                    <a:bodyPr/>
                    <a:lstStyle/>
                    <a:p>
                      <a:pPr marL="0" marR="0" algn="r">
                        <a:lnSpc>
                          <a:spcPct val="150000"/>
                        </a:lnSpc>
                        <a:spcBef>
                          <a:spcPts val="0"/>
                        </a:spcBef>
                        <a:spcAft>
                          <a:spcPts val="0"/>
                        </a:spcAft>
                      </a:pPr>
                      <a:r>
                        <a:rPr lang="en-US" sz="1800">
                          <a:solidFill>
                            <a:schemeClr val="tx1"/>
                          </a:solidFill>
                          <a:latin typeface="Times New Roman" panose="02020603050405020304" pitchFamily="18" charset="0"/>
                          <a:cs typeface="Times New Roman" panose="02020603050405020304" pitchFamily="18" charset="0"/>
                        </a:rPr>
                        <a:t>0.709</a:t>
                      </a:r>
                    </a:p>
                  </a:txBody>
                  <a:tcPr marL="68580" marR="68580" marT="0" marB="0"/>
                </a:tc>
                <a:extLst>
                  <a:ext uri="{0D108BD9-81ED-4DB2-BD59-A6C34878D82A}">
                    <a16:rowId xmlns:a16="http://schemas.microsoft.com/office/drawing/2014/main" val="307818754"/>
                  </a:ext>
                </a:extLst>
              </a:tr>
              <a:tr h="399985">
                <a:tc>
                  <a:txBody>
                    <a:bodyPr/>
                    <a:lstStyle/>
                    <a:p>
                      <a:pPr marL="0" marR="0">
                        <a:lnSpc>
                          <a:spcPct val="10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Monthly Income</a:t>
                      </a:r>
                    </a:p>
                  </a:txBody>
                  <a:tcPr marL="68580" marR="68580" marT="0" marB="0"/>
                </a:tc>
                <a:tc>
                  <a:txBody>
                    <a:bodyPr/>
                    <a:lstStyle/>
                    <a:p>
                      <a:pPr marL="0" marR="0" algn="r">
                        <a:lnSpc>
                          <a:spcPct val="15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2.73</a:t>
                      </a:r>
                    </a:p>
                  </a:txBody>
                  <a:tcPr marL="68580" marR="68580" marT="0" marB="0"/>
                </a:tc>
                <a:tc>
                  <a:txBody>
                    <a:bodyPr/>
                    <a:lstStyle/>
                    <a:p>
                      <a:pPr marL="0" marR="0" algn="r">
                        <a:lnSpc>
                          <a:spcPct val="15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1.223</a:t>
                      </a:r>
                    </a:p>
                  </a:txBody>
                  <a:tcPr marL="68580" marR="68580" marT="0" marB="0"/>
                </a:tc>
                <a:tc>
                  <a:txBody>
                    <a:bodyPr/>
                    <a:lstStyle/>
                    <a:p>
                      <a:pPr marL="0" marR="0" algn="r">
                        <a:lnSpc>
                          <a:spcPct val="15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-0.562</a:t>
                      </a:r>
                    </a:p>
                  </a:txBody>
                  <a:tcPr marL="68580" marR="68580" marT="0" marB="0"/>
                </a:tc>
                <a:tc>
                  <a:txBody>
                    <a:bodyPr/>
                    <a:lstStyle/>
                    <a:p>
                      <a:pPr marL="0" marR="0" algn="r">
                        <a:lnSpc>
                          <a:spcPct val="15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-0.679</a:t>
                      </a:r>
                    </a:p>
                  </a:txBody>
                  <a:tcPr marL="68580" marR="68580" marT="0" marB="0"/>
                </a:tc>
                <a:extLst>
                  <a:ext uri="{0D108BD9-81ED-4DB2-BD59-A6C34878D82A}">
                    <a16:rowId xmlns:a16="http://schemas.microsoft.com/office/drawing/2014/main" val="2389818554"/>
                  </a:ext>
                </a:extLst>
              </a:tr>
            </a:tbl>
          </a:graphicData>
        </a:graphic>
      </p:graphicFrame>
      <p:sp>
        <p:nvSpPr>
          <p:cNvPr id="6" name="TextBox 5">
            <a:extLst>
              <a:ext uri="{FF2B5EF4-FFF2-40B4-BE49-F238E27FC236}">
                <a16:creationId xmlns:a16="http://schemas.microsoft.com/office/drawing/2014/main" id="{5F580766-197C-0E43-732D-5E723036D44F}"/>
              </a:ext>
            </a:extLst>
          </p:cNvPr>
          <p:cNvSpPr txBox="1"/>
          <p:nvPr/>
        </p:nvSpPr>
        <p:spPr>
          <a:xfrm>
            <a:off x="471463" y="3930165"/>
            <a:ext cx="11452412" cy="463397"/>
          </a:xfrm>
          <a:prstGeom prst="rect">
            <a:avLst/>
          </a:prstGeom>
          <a:noFill/>
        </p:spPr>
        <p:txBody>
          <a:bodyPr wrap="square">
            <a:spAutoFit/>
          </a:bodyPr>
          <a:lstStyle/>
          <a:p>
            <a:pPr marL="0" marR="0" algn="just">
              <a:lnSpc>
                <a:spcPct val="150000"/>
              </a:lnSpc>
              <a:spcBef>
                <a:spcPts val="0"/>
              </a:spcBef>
              <a:spcAft>
                <a:spcPts val="800"/>
              </a:spcAft>
            </a:pPr>
            <a:r>
              <a:rPr lang="en-US" dirty="0">
                <a:latin typeface="Times New Roman" panose="02020603050405020304" pitchFamily="18" charset="0"/>
                <a:cs typeface="Times New Roman" panose="02020603050405020304" pitchFamily="18" charset="0"/>
              </a:rPr>
              <a:t>Fatigue factor variables among private-sector work from home employees in Colombo district. </a:t>
            </a:r>
          </a:p>
        </p:txBody>
      </p:sp>
      <p:pic>
        <p:nvPicPr>
          <p:cNvPr id="7" name="Picture 6">
            <a:extLst>
              <a:ext uri="{FF2B5EF4-FFF2-40B4-BE49-F238E27FC236}">
                <a16:creationId xmlns:a16="http://schemas.microsoft.com/office/drawing/2014/main" id="{E24A42CA-9352-2910-A88C-0CE181A354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463" y="4452007"/>
            <a:ext cx="5743319" cy="2299447"/>
          </a:xfrm>
          <a:prstGeom prst="rect">
            <a:avLst/>
          </a:prstGeom>
        </p:spPr>
      </p:pic>
      <p:sp>
        <p:nvSpPr>
          <p:cNvPr id="8" name="TextBox 7">
            <a:extLst>
              <a:ext uri="{FF2B5EF4-FFF2-40B4-BE49-F238E27FC236}">
                <a16:creationId xmlns:a16="http://schemas.microsoft.com/office/drawing/2014/main" id="{5B736D81-D98B-5EF9-5F45-BCFBACD395F1}"/>
              </a:ext>
            </a:extLst>
          </p:cNvPr>
          <p:cNvSpPr txBox="1"/>
          <p:nvPr/>
        </p:nvSpPr>
        <p:spPr>
          <a:xfrm>
            <a:off x="6535271" y="4760257"/>
            <a:ext cx="4926105" cy="1200329"/>
          </a:xfrm>
          <a:prstGeom prst="rect">
            <a:avLst/>
          </a:prstGeom>
          <a:noFill/>
        </p:spPr>
        <p:txBody>
          <a:bodyPr wrap="square" rtlCol="0">
            <a:spAutoFit/>
          </a:bodyPr>
          <a:lstStyle/>
          <a:p>
            <a:r>
              <a:rPr lang="en-US" b="0" dirty="0">
                <a:latin typeface="Times New Roman" panose="02020603050405020304" pitchFamily="18" charset="0"/>
                <a:cs typeface="Times New Roman" panose="02020603050405020304" pitchFamily="18" charset="0"/>
              </a:rPr>
              <a:t>The normality test shows the significance values of all the fatigue factors and the significance values were less than 0.05. Therefore, the variables were normally distributed. </a:t>
            </a:r>
          </a:p>
        </p:txBody>
      </p:sp>
    </p:spTree>
    <p:extLst>
      <p:ext uri="{BB962C8B-B14F-4D97-AF65-F5344CB8AC3E}">
        <p14:creationId xmlns:p14="http://schemas.microsoft.com/office/powerpoint/2010/main" val="1450646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68142-B758-F0FA-12BD-5CC1434B9980}"/>
              </a:ext>
            </a:extLst>
          </p:cNvPr>
          <p:cNvSpPr>
            <a:spLocks noGrp="1"/>
          </p:cNvSpPr>
          <p:nvPr>
            <p:ph type="title"/>
          </p:nvPr>
        </p:nvSpPr>
        <p:spPr>
          <a:xfrm>
            <a:off x="3518647" y="557028"/>
            <a:ext cx="5154706" cy="599421"/>
          </a:xfrm>
        </p:spPr>
        <p:txBody>
          <a:bodyPr/>
          <a:lstStyle/>
          <a:p>
            <a:r>
              <a:rPr lang="en-US" sz="3200" b="1" dirty="0">
                <a:latin typeface="Times New Roman" panose="02020603050405020304" pitchFamily="18" charset="0"/>
                <a:cs typeface="Times New Roman" panose="02020603050405020304" pitchFamily="18" charset="0"/>
              </a:rPr>
              <a:t>Chapter 3 : Results</a:t>
            </a:r>
            <a:endParaRPr lang="en-US" sz="3200" dirty="0"/>
          </a:p>
        </p:txBody>
      </p:sp>
      <p:sp>
        <p:nvSpPr>
          <p:cNvPr id="3" name="Content Placeholder 2">
            <a:extLst>
              <a:ext uri="{FF2B5EF4-FFF2-40B4-BE49-F238E27FC236}">
                <a16:creationId xmlns:a16="http://schemas.microsoft.com/office/drawing/2014/main" id="{24FC03C2-4F34-E1A5-905B-187DBD323B06}"/>
              </a:ext>
            </a:extLst>
          </p:cNvPr>
          <p:cNvSpPr>
            <a:spLocks noGrp="1"/>
          </p:cNvSpPr>
          <p:nvPr>
            <p:ph idx="1"/>
          </p:nvPr>
        </p:nvSpPr>
        <p:spPr>
          <a:xfrm>
            <a:off x="609600" y="1166018"/>
            <a:ext cx="11385176" cy="1252025"/>
          </a:xfrm>
        </p:spPr>
        <p:txBody>
          <a:bodyPr/>
          <a:lstStyle/>
          <a:p>
            <a:pPr marL="0" indent="0">
              <a:buNone/>
            </a:pPr>
            <a:r>
              <a:rPr lang="en-US" sz="2000" b="1" dirty="0">
                <a:latin typeface="Times New Roman" panose="02020603050405020304" pitchFamily="18" charset="0"/>
                <a:cs typeface="Times New Roman" panose="02020603050405020304" pitchFamily="18" charset="0"/>
              </a:rPr>
              <a:t>Association between Fatigue factors and Socio-demographic factors</a:t>
            </a:r>
          </a:p>
          <a:p>
            <a:r>
              <a:rPr lang="en-US" sz="1800" dirty="0">
                <a:latin typeface="Times New Roman" panose="02020603050405020304" pitchFamily="18" charset="0"/>
                <a:cs typeface="Times New Roman" panose="02020603050405020304" pitchFamily="18" charset="0"/>
              </a:rPr>
              <a:t>A significant value (p-value) of less than or equal to 0.05 was considered as significant.</a:t>
            </a:r>
          </a:p>
          <a:p>
            <a:r>
              <a:rPr lang="en-US" sz="1800" dirty="0">
                <a:effectLst/>
                <a:latin typeface="Times New Roman" panose="02020603050405020304" pitchFamily="18" charset="0"/>
                <a:ea typeface="Calibri" panose="020F0502020204030204" pitchFamily="34" charset="0"/>
              </a:rPr>
              <a:t>To determine the association between fatigue factors and socio-demographic factors, correlation test was used.</a:t>
            </a:r>
          </a:p>
          <a:p>
            <a:endParaRPr lang="en-US" sz="14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1D6C69C-57A9-D0C1-BA7D-66BF3C2B2CD7}"/>
              </a:ext>
            </a:extLst>
          </p:cNvPr>
          <p:cNvPicPr>
            <a:picLocks noChangeAspect="1"/>
          </p:cNvPicPr>
          <p:nvPr/>
        </p:nvPicPr>
        <p:blipFill rotWithShape="1">
          <a:blip r:embed="rId2">
            <a:extLst>
              <a:ext uri="{28A0092B-C50C-407E-A947-70E740481C1C}">
                <a14:useLocalDpi xmlns:a14="http://schemas.microsoft.com/office/drawing/2010/main" val="0"/>
              </a:ext>
            </a:extLst>
          </a:blip>
          <a:srcRect r="43640"/>
          <a:stretch/>
        </p:blipFill>
        <p:spPr bwMode="auto">
          <a:xfrm>
            <a:off x="385507" y="2418043"/>
            <a:ext cx="5371465" cy="4359275"/>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FBA26108-CD4C-036D-6078-3260BF1E13C4}"/>
              </a:ext>
            </a:extLst>
          </p:cNvPr>
          <p:cNvSpPr txBox="1"/>
          <p:nvPr/>
        </p:nvSpPr>
        <p:spPr>
          <a:xfrm>
            <a:off x="274849" y="2235921"/>
            <a:ext cx="3581400" cy="800219"/>
          </a:xfrm>
          <a:prstGeom prst="rect">
            <a:avLst/>
          </a:prstGeom>
          <a:noFill/>
        </p:spPr>
        <p:txBody>
          <a:bodyPr wrap="square" rtlCol="0">
            <a:spAutoFit/>
          </a:bodyPr>
          <a:lstStyle/>
          <a:p>
            <a:r>
              <a:rPr lang="en-US" sz="1400" b="0" dirty="0">
                <a:effectLst/>
                <a:latin typeface="Times New Roman" panose="02020603050405020304" pitchFamily="18" charset="0"/>
                <a:ea typeface="Calibri" panose="020F0502020204030204" pitchFamily="34" charset="0"/>
              </a:rPr>
              <a:t>Association between Gender and Fatigue factors among private-sector employees: </a:t>
            </a:r>
          </a:p>
          <a:p>
            <a:endParaRPr lang="en-US" dirty="0"/>
          </a:p>
        </p:txBody>
      </p:sp>
      <p:sp>
        <p:nvSpPr>
          <p:cNvPr id="7" name="TextBox 6">
            <a:extLst>
              <a:ext uri="{FF2B5EF4-FFF2-40B4-BE49-F238E27FC236}">
                <a16:creationId xmlns:a16="http://schemas.microsoft.com/office/drawing/2014/main" id="{5852788F-6CF7-C945-0B99-801150DAF4F3}"/>
              </a:ext>
            </a:extLst>
          </p:cNvPr>
          <p:cNvSpPr txBox="1"/>
          <p:nvPr/>
        </p:nvSpPr>
        <p:spPr>
          <a:xfrm>
            <a:off x="6246768" y="2302473"/>
            <a:ext cx="3285565" cy="523220"/>
          </a:xfrm>
          <a:prstGeom prst="rect">
            <a:avLst/>
          </a:prstGeom>
          <a:noFill/>
        </p:spPr>
        <p:txBody>
          <a:bodyPr wrap="square" rtlCol="0">
            <a:spAutoFit/>
          </a:bodyPr>
          <a:lstStyle/>
          <a:p>
            <a:r>
              <a:rPr lang="en-US" sz="1400" b="0" dirty="0">
                <a:effectLst/>
                <a:latin typeface="Times New Roman" panose="02020603050405020304" pitchFamily="18" charset="0"/>
                <a:ea typeface="Calibri" panose="020F0502020204030204" pitchFamily="34" charset="0"/>
              </a:rPr>
              <a:t>Relationship between Age and Fatigue factors among private-sector employees:</a:t>
            </a:r>
            <a:endParaRPr lang="en-US" sz="1400" b="0" dirty="0"/>
          </a:p>
        </p:txBody>
      </p:sp>
      <p:pic>
        <p:nvPicPr>
          <p:cNvPr id="10" name="Picture 9">
            <a:extLst>
              <a:ext uri="{FF2B5EF4-FFF2-40B4-BE49-F238E27FC236}">
                <a16:creationId xmlns:a16="http://schemas.microsoft.com/office/drawing/2014/main" id="{7E372DA3-9648-A7A6-9667-F575F98F68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1189" y="2985586"/>
            <a:ext cx="6063066" cy="3926202"/>
          </a:xfrm>
          <a:prstGeom prst="rect">
            <a:avLst/>
          </a:prstGeom>
        </p:spPr>
      </p:pic>
      <p:sp>
        <p:nvSpPr>
          <p:cNvPr id="11" name="Rectangle 10">
            <a:extLst>
              <a:ext uri="{FF2B5EF4-FFF2-40B4-BE49-F238E27FC236}">
                <a16:creationId xmlns:a16="http://schemas.microsoft.com/office/drawing/2014/main" id="{DB0719C5-3989-6F97-0639-F5F19452666E}"/>
              </a:ext>
            </a:extLst>
          </p:cNvPr>
          <p:cNvSpPr/>
          <p:nvPr/>
        </p:nvSpPr>
        <p:spPr>
          <a:xfrm>
            <a:off x="7832302" y="3282305"/>
            <a:ext cx="537812" cy="324002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988114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8287DF-A6B8-76F5-C8FB-B2C47E668DD1}"/>
              </a:ext>
            </a:extLst>
          </p:cNvPr>
          <p:cNvSpPr>
            <a:spLocks noGrp="1"/>
          </p:cNvSpPr>
          <p:nvPr>
            <p:ph idx="1"/>
          </p:nvPr>
        </p:nvSpPr>
        <p:spPr>
          <a:xfrm>
            <a:off x="609600" y="1112041"/>
            <a:ext cx="10972800" cy="1087581"/>
          </a:xfrm>
        </p:spPr>
        <p:txBody>
          <a:bodyPr/>
          <a:lstStyle/>
          <a:p>
            <a:pPr marL="0" indent="0">
              <a:buNone/>
            </a:pPr>
            <a:r>
              <a:rPr lang="en-US" sz="2000" b="1" dirty="0">
                <a:latin typeface="Times New Roman" panose="02020603050405020304" pitchFamily="18" charset="0"/>
                <a:cs typeface="Times New Roman" panose="02020603050405020304" pitchFamily="18" charset="0"/>
              </a:rPr>
              <a:t>Relationship between fatigue factors and WFH environment</a:t>
            </a:r>
          </a:p>
          <a:p>
            <a:r>
              <a:rPr lang="en-US" sz="1800" dirty="0">
                <a:latin typeface="Times New Roman" panose="02020603050405020304" pitchFamily="18" charset="0"/>
                <a:cs typeface="Times New Roman" panose="02020603050405020304" pitchFamily="18" charset="0"/>
              </a:rPr>
              <a:t>A significant value (p-value) of less than or equal to 0.05 was considered as significant.</a:t>
            </a:r>
          </a:p>
          <a:p>
            <a:r>
              <a:rPr lang="en-US" sz="1800" dirty="0">
                <a:effectLst/>
                <a:latin typeface="Times New Roman" panose="02020603050405020304" pitchFamily="18" charset="0"/>
                <a:ea typeface="Calibri" panose="020F0502020204030204" pitchFamily="34" charset="0"/>
              </a:rPr>
              <a:t>To determine the association between fatigue factors and WFH environment factors, correlation test was used.</a:t>
            </a:r>
          </a:p>
          <a:p>
            <a:pPr marL="0" indent="0">
              <a:buNone/>
            </a:pPr>
            <a:endParaRPr lang="en-US" sz="18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159FEDD4-4AA5-99ED-376B-480EC60185C6}"/>
              </a:ext>
            </a:extLst>
          </p:cNvPr>
          <p:cNvSpPr>
            <a:spLocks noGrp="1"/>
          </p:cNvSpPr>
          <p:nvPr>
            <p:ph type="title"/>
          </p:nvPr>
        </p:nvSpPr>
        <p:spPr>
          <a:xfrm>
            <a:off x="3518647" y="432125"/>
            <a:ext cx="5154706" cy="599421"/>
          </a:xfrm>
        </p:spPr>
        <p:txBody>
          <a:bodyPr/>
          <a:lstStyle/>
          <a:p>
            <a:r>
              <a:rPr lang="en-US" sz="3200" b="1" dirty="0">
                <a:latin typeface="Times New Roman" panose="02020603050405020304" pitchFamily="18" charset="0"/>
                <a:cs typeface="Times New Roman" panose="02020603050405020304" pitchFamily="18" charset="0"/>
              </a:rPr>
              <a:t>Chapter 3 : Results</a:t>
            </a:r>
            <a:endParaRPr lang="en-US" sz="3200" dirty="0"/>
          </a:p>
        </p:txBody>
      </p:sp>
      <p:sp>
        <p:nvSpPr>
          <p:cNvPr id="2" name="TextBox 1">
            <a:extLst>
              <a:ext uri="{FF2B5EF4-FFF2-40B4-BE49-F238E27FC236}">
                <a16:creationId xmlns:a16="http://schemas.microsoft.com/office/drawing/2014/main" id="{EF1E390E-A8BF-3BBD-93B7-BD5DE8F1BC6A}"/>
              </a:ext>
            </a:extLst>
          </p:cNvPr>
          <p:cNvSpPr txBox="1"/>
          <p:nvPr/>
        </p:nvSpPr>
        <p:spPr>
          <a:xfrm>
            <a:off x="609601" y="2313709"/>
            <a:ext cx="3699164" cy="800219"/>
          </a:xfrm>
          <a:prstGeom prst="rect">
            <a:avLst/>
          </a:prstGeom>
          <a:noFill/>
        </p:spPr>
        <p:txBody>
          <a:bodyPr wrap="square" rtlCol="0">
            <a:spAutoFit/>
          </a:bodyPr>
          <a:lstStyle/>
          <a:p>
            <a:r>
              <a:rPr lang="en-US" sz="1400" b="0" dirty="0">
                <a:latin typeface="Times New Roman" panose="02020603050405020304" pitchFamily="18" charset="0"/>
                <a:cs typeface="Times New Roman" panose="02020603050405020304" pitchFamily="18" charset="0"/>
              </a:rPr>
              <a:t>Association between time spent on meetings and fatigue level among private-sector employees:</a:t>
            </a:r>
          </a:p>
          <a:p>
            <a:endParaRPr lang="en-US" dirty="0"/>
          </a:p>
        </p:txBody>
      </p:sp>
      <p:pic>
        <p:nvPicPr>
          <p:cNvPr id="5" name="Picture 4">
            <a:extLst>
              <a:ext uri="{FF2B5EF4-FFF2-40B4-BE49-F238E27FC236}">
                <a16:creationId xmlns:a16="http://schemas.microsoft.com/office/drawing/2014/main" id="{C82C9A7C-998B-277D-6D91-DB037A9DF8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21" y="3006436"/>
            <a:ext cx="6262255" cy="3657280"/>
          </a:xfrm>
          <a:prstGeom prst="rect">
            <a:avLst/>
          </a:prstGeom>
        </p:spPr>
      </p:pic>
      <p:sp>
        <p:nvSpPr>
          <p:cNvPr id="6" name="Rectangle 5">
            <a:extLst>
              <a:ext uri="{FF2B5EF4-FFF2-40B4-BE49-F238E27FC236}">
                <a16:creationId xmlns:a16="http://schemas.microsoft.com/office/drawing/2014/main" id="{9E88B36B-DFC9-BEA5-52A0-1092C4931403}"/>
              </a:ext>
            </a:extLst>
          </p:cNvPr>
          <p:cNvSpPr/>
          <p:nvPr/>
        </p:nvSpPr>
        <p:spPr>
          <a:xfrm>
            <a:off x="2152501" y="3113928"/>
            <a:ext cx="682625" cy="333564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TextBox 6">
            <a:extLst>
              <a:ext uri="{FF2B5EF4-FFF2-40B4-BE49-F238E27FC236}">
                <a16:creationId xmlns:a16="http://schemas.microsoft.com/office/drawing/2014/main" id="{E8CD669E-4AF7-4A52-B080-D86958EDDD48}"/>
              </a:ext>
            </a:extLst>
          </p:cNvPr>
          <p:cNvSpPr txBox="1"/>
          <p:nvPr/>
        </p:nvSpPr>
        <p:spPr>
          <a:xfrm>
            <a:off x="6664034" y="2354050"/>
            <a:ext cx="3893127" cy="800219"/>
          </a:xfrm>
          <a:prstGeom prst="rect">
            <a:avLst/>
          </a:prstGeom>
          <a:noFill/>
        </p:spPr>
        <p:txBody>
          <a:bodyPr wrap="square" rtlCol="0">
            <a:spAutoFit/>
          </a:bodyPr>
          <a:lstStyle/>
          <a:p>
            <a:r>
              <a:rPr lang="en-US" sz="1400" b="0" dirty="0">
                <a:latin typeface="Times New Roman" panose="02020603050405020304" pitchFamily="18" charset="0"/>
                <a:cs typeface="Times New Roman" panose="02020603050405020304" pitchFamily="18" charset="0"/>
              </a:rPr>
              <a:t>Association between average working hours and fatigue level among private-sector employees:</a:t>
            </a:r>
          </a:p>
          <a:p>
            <a:endParaRPr lang="en-US" dirty="0"/>
          </a:p>
        </p:txBody>
      </p:sp>
      <p:pic>
        <p:nvPicPr>
          <p:cNvPr id="8" name="Picture 7">
            <a:extLst>
              <a:ext uri="{FF2B5EF4-FFF2-40B4-BE49-F238E27FC236}">
                <a16:creationId xmlns:a16="http://schemas.microsoft.com/office/drawing/2014/main" id="{72D110A2-7024-A47D-0628-D341FA12A9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5376" y="3095310"/>
            <a:ext cx="5857512" cy="3483724"/>
          </a:xfrm>
          <a:prstGeom prst="rect">
            <a:avLst/>
          </a:prstGeom>
        </p:spPr>
      </p:pic>
      <p:sp>
        <p:nvSpPr>
          <p:cNvPr id="9" name="Rectangle 8">
            <a:extLst>
              <a:ext uri="{FF2B5EF4-FFF2-40B4-BE49-F238E27FC236}">
                <a16:creationId xmlns:a16="http://schemas.microsoft.com/office/drawing/2014/main" id="{44FCB65D-91AB-F56B-DD75-2A701A04682D}"/>
              </a:ext>
            </a:extLst>
          </p:cNvPr>
          <p:cNvSpPr/>
          <p:nvPr/>
        </p:nvSpPr>
        <p:spPr>
          <a:xfrm>
            <a:off x="8132619" y="3202802"/>
            <a:ext cx="692727" cy="317825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823413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C338C-2CB4-B015-9292-8C57B41B2913}"/>
              </a:ext>
            </a:extLst>
          </p:cNvPr>
          <p:cNvSpPr>
            <a:spLocks noGrp="1"/>
          </p:cNvSpPr>
          <p:nvPr>
            <p:ph type="title"/>
          </p:nvPr>
        </p:nvSpPr>
        <p:spPr>
          <a:xfrm>
            <a:off x="3653117" y="893204"/>
            <a:ext cx="4885765" cy="706997"/>
          </a:xfrm>
        </p:spPr>
        <p:txBody>
          <a:bodyPr/>
          <a:lstStyle/>
          <a:p>
            <a:r>
              <a:rPr lang="en-US" sz="3200" b="1" dirty="0">
                <a:latin typeface="Times New Roman" panose="02020603050405020304" pitchFamily="18" charset="0"/>
                <a:cs typeface="Times New Roman" panose="02020603050405020304" pitchFamily="18" charset="0"/>
              </a:rPr>
              <a:t>Chapter 4 : Discussion</a:t>
            </a:r>
          </a:p>
        </p:txBody>
      </p:sp>
      <p:sp>
        <p:nvSpPr>
          <p:cNvPr id="3" name="Content Placeholder 2">
            <a:extLst>
              <a:ext uri="{FF2B5EF4-FFF2-40B4-BE49-F238E27FC236}">
                <a16:creationId xmlns:a16="http://schemas.microsoft.com/office/drawing/2014/main" id="{38B36C82-E703-20CD-4405-7E9A0717E65A}"/>
              </a:ext>
            </a:extLst>
          </p:cNvPr>
          <p:cNvSpPr>
            <a:spLocks noGrp="1"/>
          </p:cNvSpPr>
          <p:nvPr>
            <p:ph idx="1"/>
          </p:nvPr>
        </p:nvSpPr>
        <p:spPr>
          <a:xfrm>
            <a:off x="609599" y="1828796"/>
            <a:ext cx="10972800" cy="4525963"/>
          </a:xfrm>
        </p:spPr>
        <p:txBody>
          <a:bodyPr/>
          <a:lstStyle/>
          <a:p>
            <a:pPr algn="just"/>
            <a:r>
              <a:rPr lang="en-US" sz="2000" dirty="0">
                <a:latin typeface="Times New Roman" panose="02020603050405020304" pitchFamily="18" charset="0"/>
                <a:cs typeface="Times New Roman" panose="02020603050405020304" pitchFamily="18" charset="0"/>
              </a:rPr>
              <a:t>Video conference platforms have been a crucial communication tool to maintain social connections and continuity of job profiles during the COVID-19 pandemic.</a:t>
            </a:r>
          </a:p>
          <a:p>
            <a:pPr algn="just"/>
            <a:r>
              <a:rPr lang="en-US" sz="2000" dirty="0">
                <a:latin typeface="Times New Roman" panose="02020603050405020304" pitchFamily="18" charset="0"/>
                <a:cs typeface="Times New Roman" panose="02020603050405020304" pitchFamily="18" charset="0"/>
              </a:rPr>
              <a:t>This is a key indicator which shows us that work and family commitments are interrupted due to work from home, especially during meetings, video conferences and working and attending meetings online beyond stipulated working hours.</a:t>
            </a:r>
          </a:p>
          <a:p>
            <a:pPr algn="just"/>
            <a:r>
              <a:rPr lang="en-US" sz="2000" dirty="0">
                <a:latin typeface="Times New Roman" panose="02020603050405020304" pitchFamily="18" charset="0"/>
                <a:cs typeface="Times New Roman" panose="02020603050405020304" pitchFamily="18" charset="0"/>
              </a:rPr>
              <a:t>The current research outlines the process and results of the development and validation of the online survey accessed through many social media platforms.</a:t>
            </a:r>
          </a:p>
          <a:p>
            <a:pPr algn="just"/>
            <a:r>
              <a:rPr lang="en-US" sz="2000" dirty="0">
                <a:latin typeface="Times New Roman" panose="02020603050405020304" pitchFamily="18" charset="0"/>
                <a:cs typeface="Times New Roman" panose="02020603050405020304" pitchFamily="18" charset="0"/>
              </a:rPr>
              <a:t>More importantly, for all questionnaires related to tiredness, fatigue, visual complications an average of 40 to 50% has either voted for ‘Very’ or ‘Extremely’ effected due to either video conferencing or zoom meetings. The online questionnaires have been validated by both video conference use and online meetings towards fatigue among employees in corporate sector.</a:t>
            </a:r>
          </a:p>
          <a:p>
            <a:pPr algn="just"/>
            <a:r>
              <a:rPr lang="en-US" sz="2000" dirty="0">
                <a:latin typeface="Times New Roman" panose="02020603050405020304" pitchFamily="18" charset="0"/>
                <a:cs typeface="Times New Roman" panose="02020603050405020304" pitchFamily="18" charset="0"/>
              </a:rPr>
              <a:t>Also, the study was conducted among private-sector employees work from home in selected area (Colombo district) only, if the study was conducted among WFH employees in all type of offices, and the data collected physically and covered a large area, a better result could have been obtained.</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1958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742A5-87F1-A40B-3DF9-C3EBC32C5ADA}"/>
              </a:ext>
            </a:extLst>
          </p:cNvPr>
          <p:cNvSpPr>
            <a:spLocks noGrp="1"/>
          </p:cNvSpPr>
          <p:nvPr>
            <p:ph type="title"/>
          </p:nvPr>
        </p:nvSpPr>
        <p:spPr>
          <a:xfrm>
            <a:off x="1952064" y="906649"/>
            <a:ext cx="8287871" cy="1056621"/>
          </a:xfrm>
        </p:spPr>
        <p:txBody>
          <a:bodyPr/>
          <a:lstStyle/>
          <a:p>
            <a:r>
              <a:rPr lang="en-US" sz="3200" b="1" dirty="0">
                <a:latin typeface="Times New Roman" panose="02020603050405020304" pitchFamily="18" charset="0"/>
                <a:cs typeface="Times New Roman" panose="02020603050405020304" pitchFamily="18" charset="0"/>
              </a:rPr>
              <a:t>Chapter 5 : Conclusion and Recommendation</a:t>
            </a:r>
          </a:p>
        </p:txBody>
      </p:sp>
      <p:sp>
        <p:nvSpPr>
          <p:cNvPr id="3" name="Content Placeholder 2">
            <a:extLst>
              <a:ext uri="{FF2B5EF4-FFF2-40B4-BE49-F238E27FC236}">
                <a16:creationId xmlns:a16="http://schemas.microsoft.com/office/drawing/2014/main" id="{DEDBA4DD-122A-CD94-58ED-FD11FC39C15D}"/>
              </a:ext>
            </a:extLst>
          </p:cNvPr>
          <p:cNvSpPr>
            <a:spLocks noGrp="1"/>
          </p:cNvSpPr>
          <p:nvPr>
            <p:ph idx="1"/>
          </p:nvPr>
        </p:nvSpPr>
        <p:spPr>
          <a:xfrm>
            <a:off x="609600" y="2138081"/>
            <a:ext cx="10972800" cy="4525963"/>
          </a:xfrm>
        </p:spPr>
        <p:txBody>
          <a:bodyPr/>
          <a:lstStyle/>
          <a:p>
            <a:pPr algn="just"/>
            <a:r>
              <a:rPr lang="en-US" sz="2000" dirty="0">
                <a:latin typeface="Times New Roman" panose="02020603050405020304" pitchFamily="18" charset="0"/>
                <a:cs typeface="Times New Roman" panose="02020603050405020304" pitchFamily="18" charset="0"/>
              </a:rPr>
              <a:t>Both of these critical areas in life are being disturbed due to many factors, such as; long working hours, prioritizing family commitments during working hours, inadequate resources in competing the designated duties, lack of stable connectivity and etc.</a:t>
            </a:r>
          </a:p>
          <a:p>
            <a:pPr algn="just"/>
            <a:r>
              <a:rPr lang="en-US" sz="2000" dirty="0">
                <a:latin typeface="Times New Roman" panose="02020603050405020304" pitchFamily="18" charset="0"/>
                <a:cs typeface="Times New Roman" panose="02020603050405020304" pitchFamily="18" charset="0"/>
              </a:rPr>
              <a:t>In an ever-changing volatile market, it is vital to adopt new norm such as work from home and distance working habits. Important areas of concentration should be given to, no conflict of interest between work and family life balancing, strict adhering to working time or adopting flexible hours.</a:t>
            </a:r>
          </a:p>
          <a:p>
            <a:pPr algn="just"/>
            <a:r>
              <a:rPr lang="en-US" sz="2000" dirty="0">
                <a:latin typeface="Times New Roman" panose="02020603050405020304" pitchFamily="18" charset="0"/>
                <a:cs typeface="Times New Roman" panose="02020603050405020304" pitchFamily="18" charset="0"/>
              </a:rPr>
              <a:t>The challenges might seem tough to solve, and while it’s true that you’re likely always going to face some distraction and miscommunication, that doesn’t mean work from home needs to be difficult. </a:t>
            </a:r>
          </a:p>
          <a:p>
            <a:pPr algn="just"/>
            <a:r>
              <a:rPr lang="en-US" sz="2000" dirty="0">
                <a:latin typeface="Times New Roman" panose="02020603050405020304" pitchFamily="18" charset="0"/>
                <a:cs typeface="Times New Roman" panose="02020603050405020304" pitchFamily="18" charset="0"/>
              </a:rPr>
              <a:t>With the right mindset, attitude, a few useful tools, you can get your work from home change to operate as smoothly as they would from the office.</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3472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C90E3-D628-1277-282D-3379BF77F47A}"/>
              </a:ext>
            </a:extLst>
          </p:cNvPr>
          <p:cNvSpPr>
            <a:spLocks noGrp="1"/>
          </p:cNvSpPr>
          <p:nvPr>
            <p:ph type="title"/>
          </p:nvPr>
        </p:nvSpPr>
        <p:spPr>
          <a:xfrm>
            <a:off x="3706906" y="933545"/>
            <a:ext cx="4778188" cy="666656"/>
          </a:xfrm>
        </p:spPr>
        <p:txBody>
          <a:bodyPr/>
          <a:lstStyle/>
          <a:p>
            <a:r>
              <a:rPr lang="en-US" sz="32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C64C42D2-FB01-2520-9302-F760C23366F1}"/>
              </a:ext>
            </a:extLst>
          </p:cNvPr>
          <p:cNvSpPr>
            <a:spLocks noGrp="1"/>
          </p:cNvSpPr>
          <p:nvPr>
            <p:ph idx="1"/>
          </p:nvPr>
        </p:nvSpPr>
        <p:spPr/>
        <p:txBody>
          <a:bodyPr/>
          <a:lstStyle/>
          <a:p>
            <a:pPr marL="0" marR="0" algn="just">
              <a:lnSpc>
                <a:spcPct val="150000"/>
              </a:lnSpc>
              <a:spcBef>
                <a:spcPts val="0"/>
              </a:spcBef>
              <a:spcAft>
                <a:spcPts val="800"/>
              </a:spcAft>
            </a:pPr>
            <a:r>
              <a:rPr lang="en-US" sz="1200" dirty="0" err="1">
                <a:effectLst/>
                <a:latin typeface="Times New Roman" panose="02020603050405020304" pitchFamily="18" charset="0"/>
                <a:ea typeface="Calibri" panose="020F0502020204030204" pitchFamily="34" charset="0"/>
                <a:cs typeface="Latha" panose="020B0604020202020204" pitchFamily="34" charset="0"/>
              </a:rPr>
              <a:t>Rupietta</a:t>
            </a:r>
            <a:r>
              <a:rPr lang="en-US" sz="1200" dirty="0">
                <a:effectLst/>
                <a:latin typeface="Times New Roman" panose="02020603050405020304" pitchFamily="18" charset="0"/>
                <a:ea typeface="Calibri" panose="020F0502020204030204" pitchFamily="34" charset="0"/>
                <a:cs typeface="Latha" panose="020B0604020202020204" pitchFamily="34" charset="0"/>
              </a:rPr>
              <a:t>, Kira; Beckmann, Michael. (2016). </a:t>
            </a:r>
            <a:r>
              <a:rPr lang="en-US" sz="1200" i="1" dirty="0">
                <a:effectLst/>
                <a:latin typeface="Times New Roman" panose="02020603050405020304" pitchFamily="18" charset="0"/>
                <a:ea typeface="Calibri" panose="020F0502020204030204" pitchFamily="34" charset="0"/>
                <a:cs typeface="Latha" panose="020B0604020202020204" pitchFamily="34" charset="0"/>
              </a:rPr>
              <a:t>‘Working from home: What is the effect on employees' effort?’</a:t>
            </a:r>
            <a:r>
              <a:rPr lang="en-US" sz="1200" dirty="0">
                <a:effectLst/>
                <a:latin typeface="Times New Roman" panose="02020603050405020304" pitchFamily="18" charset="0"/>
                <a:ea typeface="Calibri" panose="020F0502020204030204" pitchFamily="34" charset="0"/>
                <a:cs typeface="Latha" panose="020B0604020202020204" pitchFamily="34" charset="0"/>
              </a:rPr>
              <a:t>, WWZ Working Paper, No. 2016/07, University of Basel, Center of Business and Economics (WWZ), Basel. Available at: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2"/>
              </a:rPr>
              <a:t>http://dx.doi.org/10.5451/unibas-ep61317</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6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marR="0" algn="just">
              <a:lnSpc>
                <a:spcPct val="150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Latha" panose="020B0604020202020204" pitchFamily="34" charset="0"/>
              </a:rPr>
              <a:t>Dana Rose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Garfin</a:t>
            </a:r>
            <a:r>
              <a:rPr lang="en-US" sz="1200" dirty="0">
                <a:effectLst/>
                <a:latin typeface="Times New Roman" panose="02020603050405020304" pitchFamily="18" charset="0"/>
                <a:ea typeface="Calibri" panose="020F0502020204030204" pitchFamily="34" charset="0"/>
                <a:cs typeface="Latha" panose="020B0604020202020204" pitchFamily="34" charset="0"/>
              </a:rPr>
              <a:t>, (2020), ‘Technology as a coping tool during the coronavirus disease 2019 (COVID-19) pandemic’, Available at: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3"/>
              </a:rPr>
              <a:t>https://pubmed.ncbi.nlm.nih.gov/32762116/</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6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marR="0" algn="just">
              <a:lnSpc>
                <a:spcPct val="150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Latha" panose="020B0604020202020204" pitchFamily="34" charset="0"/>
              </a:rPr>
              <a:t>Bick, A.,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Blandin</a:t>
            </a:r>
            <a:r>
              <a:rPr lang="en-US" sz="1200" dirty="0">
                <a:effectLst/>
                <a:latin typeface="Times New Roman" panose="02020603050405020304" pitchFamily="18" charset="0"/>
                <a:ea typeface="Calibri" panose="020F0502020204030204" pitchFamily="34" charset="0"/>
                <a:cs typeface="Latha" panose="020B0604020202020204" pitchFamily="34" charset="0"/>
              </a:rPr>
              <a:t>, A., &amp; Mertens, K. (2020). </a:t>
            </a:r>
            <a:r>
              <a:rPr lang="en-US" sz="1200" i="1" dirty="0">
                <a:effectLst/>
                <a:latin typeface="Times New Roman" panose="02020603050405020304" pitchFamily="18" charset="0"/>
                <a:ea typeface="Calibri" panose="020F0502020204030204" pitchFamily="34" charset="0"/>
                <a:cs typeface="Latha" panose="020B0604020202020204" pitchFamily="34" charset="0"/>
              </a:rPr>
              <a:t>‘Work from home after the COVID-19 outbreak.’ </a:t>
            </a:r>
            <a:r>
              <a:rPr lang="en-US" sz="1200" dirty="0">
                <a:effectLst/>
                <a:latin typeface="Times New Roman" panose="02020603050405020304" pitchFamily="18" charset="0"/>
                <a:ea typeface="Calibri" panose="020F0502020204030204" pitchFamily="34" charset="0"/>
                <a:cs typeface="Latha" panose="020B0604020202020204" pitchFamily="34" charset="0"/>
              </a:rPr>
              <a:t>CEPR Discussion Paper No. DP15000, Available at SSRN: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4"/>
              </a:rPr>
              <a:t>https://ssrn.com/abstract=3650114</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8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marR="0" algn="just">
              <a:lnSpc>
                <a:spcPct val="150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Latha" panose="020B0604020202020204" pitchFamily="34" charset="0"/>
              </a:rPr>
              <a:t>Bloom, N., Davis, S. J., &amp;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Zhestkova</a:t>
            </a:r>
            <a:r>
              <a:rPr lang="en-US" sz="1200" dirty="0">
                <a:effectLst/>
                <a:latin typeface="Times New Roman" panose="02020603050405020304" pitchFamily="18" charset="0"/>
                <a:ea typeface="Calibri" panose="020F0502020204030204" pitchFamily="34" charset="0"/>
                <a:cs typeface="Latha" panose="020B0604020202020204" pitchFamily="34" charset="0"/>
              </a:rPr>
              <a:t>, Y. (2021). </a:t>
            </a:r>
            <a:r>
              <a:rPr lang="en-US" sz="1200" i="1" dirty="0">
                <a:effectLst/>
                <a:latin typeface="Times New Roman" panose="02020603050405020304" pitchFamily="18" charset="0"/>
                <a:ea typeface="Calibri" panose="020F0502020204030204" pitchFamily="34" charset="0"/>
                <a:cs typeface="Latha" panose="020B0604020202020204" pitchFamily="34" charset="0"/>
              </a:rPr>
              <a:t>‘COVID-19 Shifted Patent Applications Toward Technologies that Support Working from Home.’</a:t>
            </a:r>
            <a:r>
              <a:rPr lang="en-US" sz="1200" dirty="0">
                <a:effectLst/>
                <a:latin typeface="Times New Roman" panose="02020603050405020304" pitchFamily="18" charset="0"/>
                <a:ea typeface="Calibri" panose="020F0502020204030204" pitchFamily="34" charset="0"/>
                <a:cs typeface="Latha" panose="020B0604020202020204" pitchFamily="34" charset="0"/>
              </a:rPr>
              <a:t> University of Chicago, Becker Friedman Institute for Economics Working Paper No. 2020-133. Available at: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5"/>
              </a:rPr>
              <a:t>http://dx.doi.org/10.2139/ssrn.3695191</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9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marR="0" algn="just">
              <a:lnSpc>
                <a:spcPct val="150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Latha" panose="020B0604020202020204" pitchFamily="34" charset="0"/>
              </a:rPr>
              <a:t>Bright, L. F.,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Kleiser</a:t>
            </a:r>
            <a:r>
              <a:rPr lang="en-US" sz="1200" dirty="0">
                <a:effectLst/>
                <a:latin typeface="Times New Roman" panose="02020603050405020304" pitchFamily="18" charset="0"/>
                <a:ea typeface="Calibri" panose="020F0502020204030204" pitchFamily="34" charset="0"/>
                <a:cs typeface="Latha" panose="020B0604020202020204" pitchFamily="34" charset="0"/>
              </a:rPr>
              <a:t>, S. B., &amp; Grau, S. L. (2015). Too much Facebook? An exploratory examination of social media fatigue. </a:t>
            </a:r>
            <a:r>
              <a:rPr lang="en-US" sz="1200" i="1" dirty="0">
                <a:effectLst/>
                <a:latin typeface="Times New Roman" panose="02020603050405020304" pitchFamily="18" charset="0"/>
                <a:ea typeface="Calibri" panose="020F0502020204030204" pitchFamily="34" charset="0"/>
                <a:cs typeface="Latha" panose="020B0604020202020204" pitchFamily="34" charset="0"/>
              </a:rPr>
              <a:t>‘Computers in Human Behavior’</a:t>
            </a:r>
            <a:r>
              <a:rPr lang="en-US" sz="1200" dirty="0">
                <a:effectLst/>
                <a:latin typeface="Times New Roman" panose="02020603050405020304" pitchFamily="18" charset="0"/>
                <a:ea typeface="Calibri" panose="020F0502020204030204" pitchFamily="34" charset="0"/>
                <a:cs typeface="Latha" panose="020B0604020202020204" pitchFamily="34" charset="0"/>
              </a:rPr>
              <a:t>, 44, 148–155. Available at: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6"/>
              </a:rPr>
              <a:t>https://doi.org/10.1016/j.chb.2014.11.048</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9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marR="0" algn="just">
              <a:lnSpc>
                <a:spcPct val="150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Latha" panose="020B0604020202020204" pitchFamily="34" charset="0"/>
              </a:rPr>
              <a:t>Chawla, A. (2020). </a:t>
            </a:r>
            <a:r>
              <a:rPr lang="en-US" sz="1200" i="1" dirty="0">
                <a:effectLst/>
                <a:latin typeface="Times New Roman" panose="02020603050405020304" pitchFamily="18" charset="0"/>
                <a:ea typeface="Calibri" panose="020F0502020204030204" pitchFamily="34" charset="0"/>
                <a:cs typeface="Latha" panose="020B0604020202020204" pitchFamily="34" charset="0"/>
              </a:rPr>
              <a:t>Coronavirus (COVID-19) – ‘Zoom’ application boon or bane</a:t>
            </a:r>
            <a:r>
              <a:rPr lang="en-US" sz="1200" dirty="0">
                <a:effectLst/>
                <a:latin typeface="Times New Roman" panose="02020603050405020304" pitchFamily="18" charset="0"/>
                <a:ea typeface="Calibri" panose="020F0502020204030204" pitchFamily="34" charset="0"/>
                <a:cs typeface="Latha" panose="020B0604020202020204" pitchFamily="34" charset="0"/>
              </a:rPr>
              <a:t>. Available at SSRN: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7"/>
              </a:rPr>
              <a:t>http://dx.doi.org/10.2139/ssrn.3606716</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12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marR="0" algn="just">
              <a:lnSpc>
                <a:spcPct val="150000"/>
              </a:lnSpc>
              <a:spcBef>
                <a:spcPts val="0"/>
              </a:spcBef>
              <a:spcAft>
                <a:spcPts val="800"/>
              </a:spcAft>
            </a:pPr>
            <a:r>
              <a:rPr lang="en-US" sz="1200" dirty="0" err="1">
                <a:effectLst/>
                <a:latin typeface="Times New Roman" panose="02020603050405020304" pitchFamily="18" charset="0"/>
                <a:ea typeface="Calibri" panose="020F0502020204030204" pitchFamily="34" charset="0"/>
                <a:cs typeface="Latha" panose="020B0604020202020204" pitchFamily="34" charset="0"/>
              </a:rPr>
              <a:t>Comrey</a:t>
            </a:r>
            <a:r>
              <a:rPr lang="en-US" sz="1200" dirty="0">
                <a:effectLst/>
                <a:latin typeface="Times New Roman" panose="02020603050405020304" pitchFamily="18" charset="0"/>
                <a:ea typeface="Calibri" panose="020F0502020204030204" pitchFamily="34" charset="0"/>
                <a:cs typeface="Latha" panose="020B0604020202020204" pitchFamily="34" charset="0"/>
              </a:rPr>
              <a:t>, A. L. (1988). Factor-analytic methods of scale development in personality and clinical psychology. </a:t>
            </a:r>
            <a:r>
              <a:rPr lang="en-US" sz="1200" i="1" dirty="0">
                <a:effectLst/>
                <a:latin typeface="Times New Roman" panose="02020603050405020304" pitchFamily="18" charset="0"/>
                <a:ea typeface="Calibri" panose="020F0502020204030204" pitchFamily="34" charset="0"/>
                <a:cs typeface="Latha" panose="020B0604020202020204" pitchFamily="34" charset="0"/>
              </a:rPr>
              <a:t>American Psychological Association</a:t>
            </a:r>
            <a:r>
              <a:rPr lang="en-US" sz="1200" dirty="0">
                <a:effectLst/>
                <a:latin typeface="Times New Roman" panose="02020603050405020304" pitchFamily="18" charset="0"/>
                <a:ea typeface="Calibri" panose="020F0502020204030204" pitchFamily="34" charset="0"/>
                <a:cs typeface="Latha" panose="020B0604020202020204" pitchFamily="34" charset="0"/>
              </a:rPr>
              <a:t>, 56, 754–61. Department of Health &amp; Human Services. (2015). </a:t>
            </a:r>
            <a:r>
              <a:rPr lang="en-US" sz="1200" i="1" dirty="0">
                <a:effectLst/>
                <a:latin typeface="Times New Roman" panose="02020603050405020304" pitchFamily="18" charset="0"/>
                <a:ea typeface="Calibri" panose="020F0502020204030204" pitchFamily="34" charset="0"/>
                <a:cs typeface="Latha" panose="020B0604020202020204" pitchFamily="34" charset="0"/>
              </a:rPr>
              <a:t>Symptoms of fatigue</a:t>
            </a:r>
            <a:r>
              <a:rPr lang="en-US" sz="1200" dirty="0">
                <a:effectLst/>
                <a:latin typeface="Times New Roman" panose="02020603050405020304" pitchFamily="18" charset="0"/>
                <a:ea typeface="Calibri" panose="020F0502020204030204" pitchFamily="34" charset="0"/>
                <a:cs typeface="Latha" panose="020B0604020202020204" pitchFamily="34" charset="0"/>
              </a:rPr>
              <a:t>. Available at: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8"/>
              </a:rPr>
              <a:t>https://www.betterhealth.vic.gov.au/health/conditionsandtreatments/fatigue</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16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indent="0">
              <a:buNone/>
            </a:pPr>
            <a:endParaRPr lang="en-US" dirty="0"/>
          </a:p>
        </p:txBody>
      </p:sp>
    </p:spTree>
    <p:extLst>
      <p:ext uri="{BB962C8B-B14F-4D97-AF65-F5344CB8AC3E}">
        <p14:creationId xmlns:p14="http://schemas.microsoft.com/office/powerpoint/2010/main" val="3069044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3F595-4067-C87A-550C-5A08F9D3CB43}"/>
              </a:ext>
            </a:extLst>
          </p:cNvPr>
          <p:cNvSpPr>
            <a:spLocks noGrp="1"/>
          </p:cNvSpPr>
          <p:nvPr>
            <p:ph type="title"/>
          </p:nvPr>
        </p:nvSpPr>
        <p:spPr>
          <a:xfrm>
            <a:off x="3352800" y="906651"/>
            <a:ext cx="5486400" cy="693550"/>
          </a:xfrm>
        </p:spPr>
        <p:txBody>
          <a:bodyPr/>
          <a:lstStyle/>
          <a:p>
            <a:r>
              <a:rPr lang="en-US" sz="3200" b="1" dirty="0">
                <a:latin typeface="Times New Roman" panose="02020603050405020304" pitchFamily="18" charset="0"/>
                <a:cs typeface="Times New Roman" panose="02020603050405020304" pitchFamily="18" charset="0"/>
              </a:rPr>
              <a:t>References</a:t>
            </a:r>
            <a:endParaRPr lang="en-US" sz="3200" dirty="0"/>
          </a:p>
        </p:txBody>
      </p:sp>
      <p:sp>
        <p:nvSpPr>
          <p:cNvPr id="3" name="Content Placeholder 2">
            <a:extLst>
              <a:ext uri="{FF2B5EF4-FFF2-40B4-BE49-F238E27FC236}">
                <a16:creationId xmlns:a16="http://schemas.microsoft.com/office/drawing/2014/main" id="{797DD49B-DDB4-D78A-1015-9240BCB17BBB}"/>
              </a:ext>
            </a:extLst>
          </p:cNvPr>
          <p:cNvSpPr>
            <a:spLocks noGrp="1"/>
          </p:cNvSpPr>
          <p:nvPr>
            <p:ph idx="1"/>
          </p:nvPr>
        </p:nvSpPr>
        <p:spPr>
          <a:xfrm>
            <a:off x="470647" y="1600202"/>
            <a:ext cx="11111753" cy="2783540"/>
          </a:xfrm>
        </p:spPr>
        <p:txBody>
          <a:bodyPr/>
          <a:lstStyle/>
          <a:p>
            <a:pPr marL="0" marR="0" algn="just">
              <a:lnSpc>
                <a:spcPct val="150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Latha" panose="020B0604020202020204" pitchFamily="34" charset="0"/>
              </a:rPr>
              <a:t>Dol, K. S. (2016). </a:t>
            </a:r>
            <a:r>
              <a:rPr lang="en-US" sz="1200" i="1" dirty="0">
                <a:effectLst/>
                <a:latin typeface="Times New Roman" panose="02020603050405020304" pitchFamily="18" charset="0"/>
                <a:ea typeface="Calibri" panose="020F0502020204030204" pitchFamily="34" charset="0"/>
                <a:cs typeface="Latha" panose="020B0604020202020204" pitchFamily="34" charset="0"/>
              </a:rPr>
              <a:t>Fatigue and pain related to internet usage among university students</a:t>
            </a:r>
            <a:r>
              <a:rPr lang="en-US" sz="1200" dirty="0">
                <a:effectLst/>
                <a:latin typeface="Times New Roman" panose="02020603050405020304" pitchFamily="18" charset="0"/>
                <a:ea typeface="Calibri" panose="020F0502020204030204" pitchFamily="34" charset="0"/>
                <a:cs typeface="Latha" panose="020B0604020202020204" pitchFamily="34" charset="0"/>
              </a:rPr>
              <a:t>. Journal of Physical Therapy Science, 28(4), 1233–1237. Available at: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2"/>
              </a:rPr>
              <a:t>https://doi.org/10.1589/jpts.28.1233</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21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marR="0" algn="just">
              <a:lnSpc>
                <a:spcPct val="150000"/>
              </a:lnSpc>
              <a:spcBef>
                <a:spcPts val="0"/>
              </a:spcBef>
              <a:spcAft>
                <a:spcPts val="800"/>
              </a:spcAft>
            </a:pPr>
            <a:r>
              <a:rPr lang="en-US" sz="1200" dirty="0" err="1">
                <a:effectLst/>
                <a:latin typeface="Times New Roman" panose="02020603050405020304" pitchFamily="18" charset="0"/>
                <a:ea typeface="Calibri" panose="020F0502020204030204" pitchFamily="34" charset="0"/>
                <a:cs typeface="Latha" panose="020B0604020202020204" pitchFamily="34" charset="0"/>
              </a:rPr>
              <a:t>Feijt</a:t>
            </a:r>
            <a:r>
              <a:rPr lang="en-US" sz="1200" dirty="0">
                <a:effectLst/>
                <a:latin typeface="Times New Roman" panose="02020603050405020304" pitchFamily="18" charset="0"/>
                <a:ea typeface="Calibri" panose="020F0502020204030204" pitchFamily="34" charset="0"/>
                <a:cs typeface="Latha" panose="020B0604020202020204" pitchFamily="34" charset="0"/>
              </a:rPr>
              <a:t>, M., De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Kort</a:t>
            </a:r>
            <a:r>
              <a:rPr lang="en-US" sz="1200" dirty="0">
                <a:effectLst/>
                <a:latin typeface="Times New Roman" panose="02020603050405020304" pitchFamily="18" charset="0"/>
                <a:ea typeface="Calibri" panose="020F0502020204030204" pitchFamily="34" charset="0"/>
                <a:cs typeface="Latha" panose="020B0604020202020204" pitchFamily="34" charset="0"/>
              </a:rPr>
              <a:t>, Y.,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Bongers</a:t>
            </a:r>
            <a:r>
              <a:rPr lang="en-US" sz="1200" dirty="0">
                <a:effectLst/>
                <a:latin typeface="Times New Roman" panose="02020603050405020304" pitchFamily="18" charset="0"/>
                <a:ea typeface="Calibri" panose="020F0502020204030204" pitchFamily="34" charset="0"/>
                <a:cs typeface="Latha" panose="020B0604020202020204" pitchFamily="34" charset="0"/>
              </a:rPr>
              <a:t>, I.,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Bierbooms</a:t>
            </a:r>
            <a:r>
              <a:rPr lang="en-US" sz="1200" dirty="0">
                <a:effectLst/>
                <a:latin typeface="Times New Roman" panose="02020603050405020304" pitchFamily="18" charset="0"/>
                <a:ea typeface="Calibri" panose="020F0502020204030204" pitchFamily="34" charset="0"/>
                <a:cs typeface="Latha" panose="020B0604020202020204" pitchFamily="34" charset="0"/>
              </a:rPr>
              <a:t>, J.,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Westerink</a:t>
            </a:r>
            <a:r>
              <a:rPr lang="en-US" sz="1200" dirty="0">
                <a:effectLst/>
                <a:latin typeface="Times New Roman" panose="02020603050405020304" pitchFamily="18" charset="0"/>
                <a:ea typeface="Calibri" panose="020F0502020204030204" pitchFamily="34" charset="0"/>
                <a:cs typeface="Latha" panose="020B0604020202020204" pitchFamily="34" charset="0"/>
              </a:rPr>
              <a:t>, J., &amp;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Ijsselsteijn</a:t>
            </a:r>
            <a:r>
              <a:rPr lang="en-US" sz="1200" dirty="0">
                <a:effectLst/>
                <a:latin typeface="Times New Roman" panose="02020603050405020304" pitchFamily="18" charset="0"/>
                <a:ea typeface="Calibri" panose="020F0502020204030204" pitchFamily="34" charset="0"/>
                <a:cs typeface="Latha" panose="020B0604020202020204" pitchFamily="34" charset="0"/>
              </a:rPr>
              <a:t>, W. (2020). Mental health care goes online: Practitioners’ experiences of providing mental health care during the COVID-19 pandemic. </a:t>
            </a:r>
            <a:r>
              <a:rPr lang="en-US" sz="1200" i="1" dirty="0">
                <a:effectLst/>
                <a:latin typeface="Times New Roman" panose="02020603050405020304" pitchFamily="18" charset="0"/>
                <a:ea typeface="Calibri" panose="020F0502020204030204" pitchFamily="34" charset="0"/>
                <a:cs typeface="Latha" panose="020B0604020202020204" pitchFamily="34" charset="0"/>
              </a:rPr>
              <a:t>Cyberpsychology, Behavior, and Social Networking,</a:t>
            </a:r>
            <a:r>
              <a:rPr lang="en-US" sz="1200" dirty="0">
                <a:effectLst/>
                <a:latin typeface="Times New Roman" panose="02020603050405020304" pitchFamily="18" charset="0"/>
                <a:ea typeface="Calibri" panose="020F0502020204030204" pitchFamily="34" charset="0"/>
                <a:cs typeface="Latha" panose="020B0604020202020204" pitchFamily="34" charset="0"/>
              </a:rPr>
              <a:t> 23(12), 860–864. Available at: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3"/>
              </a:rPr>
              <a:t>https://doi.org/10.1089/cyber.2020.0370</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22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marR="0" algn="just">
              <a:lnSpc>
                <a:spcPct val="150000"/>
              </a:lnSpc>
              <a:spcBef>
                <a:spcPts val="0"/>
              </a:spcBef>
              <a:spcAft>
                <a:spcPts val="800"/>
              </a:spcAft>
            </a:pPr>
            <a:r>
              <a:rPr lang="en-US" sz="1200" dirty="0" err="1">
                <a:effectLst/>
                <a:latin typeface="Times New Roman" panose="02020603050405020304" pitchFamily="18" charset="0"/>
                <a:ea typeface="Calibri" panose="020F0502020204030204" pitchFamily="34" charset="0"/>
                <a:cs typeface="Latha" panose="020B0604020202020204" pitchFamily="34" charset="0"/>
              </a:rPr>
              <a:t>Guadagnoli</a:t>
            </a:r>
            <a:r>
              <a:rPr lang="en-US" sz="1200" dirty="0">
                <a:effectLst/>
                <a:latin typeface="Times New Roman" panose="02020603050405020304" pitchFamily="18" charset="0"/>
                <a:ea typeface="Calibri" panose="020F0502020204030204" pitchFamily="34" charset="0"/>
                <a:cs typeface="Latha" panose="020B0604020202020204" pitchFamily="34" charset="0"/>
              </a:rPr>
              <a:t>, E.,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Velicer</a:t>
            </a:r>
            <a:r>
              <a:rPr lang="en-US" sz="1200" dirty="0">
                <a:effectLst/>
                <a:latin typeface="Times New Roman" panose="02020603050405020304" pitchFamily="18" charset="0"/>
                <a:ea typeface="Calibri" panose="020F0502020204030204" pitchFamily="34" charset="0"/>
                <a:cs typeface="Latha" panose="020B0604020202020204" pitchFamily="34" charset="0"/>
              </a:rPr>
              <a:t> W. F. (1988). Relation of sample size to the stability of component patterns. </a:t>
            </a:r>
            <a:r>
              <a:rPr lang="en-US" sz="1200" i="1" dirty="0">
                <a:effectLst/>
                <a:latin typeface="Times New Roman" panose="02020603050405020304" pitchFamily="18" charset="0"/>
                <a:ea typeface="Calibri" panose="020F0502020204030204" pitchFamily="34" charset="0"/>
                <a:cs typeface="Latha" panose="020B0604020202020204" pitchFamily="34" charset="0"/>
              </a:rPr>
              <a:t>American Psychological Association</a:t>
            </a:r>
            <a:r>
              <a:rPr lang="en-US" sz="1200" dirty="0">
                <a:effectLst/>
                <a:latin typeface="Times New Roman" panose="02020603050405020304" pitchFamily="18" charset="0"/>
                <a:ea typeface="Calibri" panose="020F0502020204030204" pitchFamily="34" charset="0"/>
                <a:cs typeface="Latha" panose="020B0604020202020204" pitchFamily="34" charset="0"/>
              </a:rPr>
              <a:t>, 103, 265–75. Hinds, P. J. (1999). The cognitive and interpersonal costs of video. </a:t>
            </a:r>
            <a:r>
              <a:rPr lang="en-US" sz="1200" i="1" dirty="0">
                <a:effectLst/>
                <a:latin typeface="Times New Roman" panose="02020603050405020304" pitchFamily="18" charset="0"/>
                <a:ea typeface="Calibri" panose="020F0502020204030204" pitchFamily="34" charset="0"/>
                <a:cs typeface="Latha" panose="020B0604020202020204" pitchFamily="34" charset="0"/>
              </a:rPr>
              <a:t>Media Psychology</a:t>
            </a:r>
            <a:r>
              <a:rPr lang="en-US" sz="1200" dirty="0">
                <a:effectLst/>
                <a:latin typeface="Times New Roman" panose="02020603050405020304" pitchFamily="18" charset="0"/>
                <a:ea typeface="Calibri" panose="020F0502020204030204" pitchFamily="34" charset="0"/>
                <a:cs typeface="Latha" panose="020B0604020202020204" pitchFamily="34" charset="0"/>
              </a:rPr>
              <a:t>, 1(4), 283–311. Available at: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4"/>
              </a:rPr>
              <a:t>https://doi.org/10.1207/s1532785xmep0104_1</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22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marR="0" algn="just">
              <a:lnSpc>
                <a:spcPct val="150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Latha" panose="020B0604020202020204" pitchFamily="34" charset="0"/>
              </a:rPr>
              <a:t>Iqbal, M. (2020). Zoom revenue and usage statistics. Business of apps. Available at: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5"/>
              </a:rPr>
              <a:t>https://www.businessofapps.com/data/zoom-statistics/</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22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marR="0" algn="just">
              <a:lnSpc>
                <a:spcPct val="150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Latha" panose="020B0604020202020204" pitchFamily="34" charset="0"/>
              </a:rPr>
              <a:t>Kline, P. A. (1993). </a:t>
            </a:r>
            <a:r>
              <a:rPr lang="en-US" sz="1200" i="1" dirty="0">
                <a:effectLst/>
                <a:latin typeface="Times New Roman" panose="02020603050405020304" pitchFamily="18" charset="0"/>
                <a:ea typeface="Calibri" panose="020F0502020204030204" pitchFamily="34" charset="0"/>
                <a:cs typeface="Latha" panose="020B0604020202020204" pitchFamily="34" charset="0"/>
              </a:rPr>
              <a:t>Handbook of Psychological Testing</a:t>
            </a:r>
            <a:r>
              <a:rPr lang="en-US" sz="1200" dirty="0">
                <a:effectLst/>
                <a:latin typeface="Times New Roman" panose="02020603050405020304" pitchFamily="18" charset="0"/>
                <a:ea typeface="Calibri" panose="020F0502020204030204" pitchFamily="34" charset="0"/>
                <a:cs typeface="Latha" panose="020B0604020202020204" pitchFamily="34" charset="0"/>
              </a:rPr>
              <a:t>. 2nd Ed. London: Routledge; Taylor &amp; Francis Group. Lowenthal, P.,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Borup</a:t>
            </a:r>
            <a:r>
              <a:rPr lang="en-US" sz="1200" dirty="0">
                <a:effectLst/>
                <a:latin typeface="Times New Roman" panose="02020603050405020304" pitchFamily="18" charset="0"/>
                <a:ea typeface="Calibri" panose="020F0502020204030204" pitchFamily="34" charset="0"/>
                <a:cs typeface="Latha" panose="020B0604020202020204" pitchFamily="34" charset="0"/>
              </a:rPr>
              <a:t>, J., West, R., &amp; Archambault, L. (2020). Thinking beyond Zoom: Using asynchronous video to maintain connection and engagement during the COVID-19 pandemic. </a:t>
            </a:r>
            <a:r>
              <a:rPr lang="en-US" sz="1200" i="1" dirty="0">
                <a:effectLst/>
                <a:latin typeface="Times New Roman" panose="02020603050405020304" pitchFamily="18" charset="0"/>
                <a:ea typeface="Calibri" panose="020F0502020204030204" pitchFamily="34" charset="0"/>
                <a:cs typeface="Latha" panose="020B0604020202020204" pitchFamily="34" charset="0"/>
              </a:rPr>
              <a:t>Journal of Technology and Teacher Education</a:t>
            </a:r>
            <a:r>
              <a:rPr lang="en-US" sz="1200" dirty="0">
                <a:effectLst/>
                <a:latin typeface="Times New Roman" panose="02020603050405020304" pitchFamily="18" charset="0"/>
                <a:ea typeface="Calibri" panose="020F0502020204030204" pitchFamily="34" charset="0"/>
                <a:cs typeface="Latha" panose="020B0604020202020204" pitchFamily="34" charset="0"/>
              </a:rPr>
              <a:t>, 28(2), 383–391. Maslach, C. Burnout: </a:t>
            </a:r>
            <a:r>
              <a:rPr lang="en-US" sz="1200" i="1" dirty="0">
                <a:effectLst/>
                <a:latin typeface="Times New Roman" panose="02020603050405020304" pitchFamily="18" charset="0"/>
                <a:ea typeface="Calibri" panose="020F0502020204030204" pitchFamily="34" charset="0"/>
                <a:cs typeface="Latha" panose="020B0604020202020204" pitchFamily="34" charset="0"/>
              </a:rPr>
              <a:t>The cost of caring</a:t>
            </a:r>
            <a:r>
              <a:rPr lang="en-US" sz="1200" dirty="0">
                <a:effectLst/>
                <a:latin typeface="Times New Roman" panose="02020603050405020304" pitchFamily="18" charset="0"/>
                <a:ea typeface="Calibri" panose="020F0502020204030204" pitchFamily="34" charset="0"/>
                <a:cs typeface="Latha" panose="020B0604020202020204" pitchFamily="34" charset="0"/>
              </a:rPr>
              <a:t>. Englewood Cliffs, NJ: Prentice-Hall, 1982.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Nanjundeswaran</a:t>
            </a:r>
            <a:r>
              <a:rPr lang="en-US" sz="1200" dirty="0">
                <a:effectLst/>
                <a:latin typeface="Times New Roman" panose="02020603050405020304" pitchFamily="18" charset="0"/>
                <a:ea typeface="Calibri" panose="020F0502020204030204" pitchFamily="34" charset="0"/>
                <a:cs typeface="Latha" panose="020B0604020202020204" pitchFamily="34" charset="0"/>
              </a:rPr>
              <a:t>, C., Jacobson, B. H., Gartner-Schmidt, J., &amp;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Verdolini</a:t>
            </a:r>
            <a:r>
              <a:rPr lang="en-US" sz="1200" dirty="0">
                <a:effectLst/>
                <a:latin typeface="Times New Roman" panose="02020603050405020304" pitchFamily="18" charset="0"/>
                <a:ea typeface="Calibri" panose="020F0502020204030204" pitchFamily="34" charset="0"/>
                <a:cs typeface="Latha" panose="020B0604020202020204" pitchFamily="34" charset="0"/>
              </a:rPr>
              <a:t> Abbott, K. (2015). Vocal Fatigue Index (VFI): Development and Validation. </a:t>
            </a:r>
            <a:r>
              <a:rPr lang="en-US" sz="1200" i="1" dirty="0">
                <a:effectLst/>
                <a:latin typeface="Times New Roman" panose="02020603050405020304" pitchFamily="18" charset="0"/>
                <a:ea typeface="Calibri" panose="020F0502020204030204" pitchFamily="34" charset="0"/>
                <a:cs typeface="Latha" panose="020B0604020202020204" pitchFamily="34" charset="0"/>
              </a:rPr>
              <a:t>Journal of Voice</a:t>
            </a:r>
            <a:r>
              <a:rPr lang="en-US" sz="1200" dirty="0">
                <a:effectLst/>
                <a:latin typeface="Times New Roman" panose="02020603050405020304" pitchFamily="18" charset="0"/>
                <a:ea typeface="Calibri" panose="020F0502020204030204" pitchFamily="34" charset="0"/>
                <a:cs typeface="Latha" panose="020B0604020202020204" pitchFamily="34" charset="0"/>
              </a:rPr>
              <a:t>, 29(4), 433–440. Available at: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6"/>
              </a:rPr>
              <a:t>https://doi.org/10.1016/j.jvoice.2014.09.012</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on 25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marR="0" algn="just">
              <a:lnSpc>
                <a:spcPct val="150000"/>
              </a:lnSpc>
              <a:spcBef>
                <a:spcPts val="0"/>
              </a:spcBef>
              <a:spcAft>
                <a:spcPts val="800"/>
              </a:spcAft>
            </a:pPr>
            <a:r>
              <a:rPr lang="en-US" sz="1200" dirty="0" err="1">
                <a:effectLst/>
                <a:latin typeface="Times New Roman" panose="02020603050405020304" pitchFamily="18" charset="0"/>
                <a:ea typeface="Calibri" panose="020F0502020204030204" pitchFamily="34" charset="0"/>
                <a:cs typeface="Latha" panose="020B0604020202020204" pitchFamily="34" charset="0"/>
              </a:rPr>
              <a:t>Smets</a:t>
            </a:r>
            <a:r>
              <a:rPr lang="en-US" sz="1200" dirty="0">
                <a:effectLst/>
                <a:latin typeface="Times New Roman" panose="02020603050405020304" pitchFamily="18" charset="0"/>
                <a:ea typeface="Calibri" panose="020F0502020204030204" pitchFamily="34" charset="0"/>
                <a:cs typeface="Latha" panose="020B0604020202020204" pitchFamily="34" charset="0"/>
              </a:rPr>
              <a:t>, E. M. A.,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Garssen</a:t>
            </a:r>
            <a:r>
              <a:rPr lang="en-US" sz="1200" dirty="0">
                <a:effectLst/>
                <a:latin typeface="Times New Roman" panose="02020603050405020304" pitchFamily="18" charset="0"/>
                <a:ea typeface="Calibri" panose="020F0502020204030204" pitchFamily="34" charset="0"/>
                <a:cs typeface="Latha" panose="020B0604020202020204" pitchFamily="34" charset="0"/>
              </a:rPr>
              <a:t>, B.,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Bonke</a:t>
            </a:r>
            <a:r>
              <a:rPr lang="en-US" sz="1200" dirty="0">
                <a:effectLst/>
                <a:latin typeface="Times New Roman" panose="02020603050405020304" pitchFamily="18" charset="0"/>
                <a:ea typeface="Calibri" panose="020F0502020204030204" pitchFamily="34" charset="0"/>
                <a:cs typeface="Latha" panose="020B0604020202020204" pitchFamily="34" charset="0"/>
              </a:rPr>
              <a:t>, B., de </a:t>
            </a:r>
            <a:r>
              <a:rPr lang="en-US" sz="1200" dirty="0" err="1">
                <a:effectLst/>
                <a:latin typeface="Times New Roman" panose="02020603050405020304" pitchFamily="18" charset="0"/>
                <a:ea typeface="Calibri" panose="020F0502020204030204" pitchFamily="34" charset="0"/>
                <a:cs typeface="Latha" panose="020B0604020202020204" pitchFamily="34" charset="0"/>
              </a:rPr>
              <a:t>Haes</a:t>
            </a:r>
            <a:r>
              <a:rPr lang="en-US" sz="1200" dirty="0">
                <a:effectLst/>
                <a:latin typeface="Times New Roman" panose="02020603050405020304" pitchFamily="18" charset="0"/>
                <a:ea typeface="Calibri" panose="020F0502020204030204" pitchFamily="34" charset="0"/>
                <a:cs typeface="Latha" panose="020B0604020202020204" pitchFamily="34" charset="0"/>
              </a:rPr>
              <a:t>, J. (1995). The multidimensional fatigue inventory (MFI) psychometric qualities of an instrument to assess fatigue. Journal of Psychosomatic Research, 39(5), 315–325. Available at: </a:t>
            </a:r>
            <a:r>
              <a:rPr lang="en-US" sz="1200" u="sng" dirty="0">
                <a:solidFill>
                  <a:srgbClr val="0563C1"/>
                </a:solidFill>
                <a:effectLst/>
                <a:latin typeface="Times New Roman" panose="02020603050405020304" pitchFamily="18" charset="0"/>
                <a:ea typeface="Calibri" panose="020F0502020204030204" pitchFamily="34" charset="0"/>
                <a:cs typeface="Latha" panose="020B0604020202020204" pitchFamily="34" charset="0"/>
                <a:hlinkClick r:id="rId7"/>
              </a:rPr>
              <a:t>https://doi.org/10.1016/0022-3999(94)00125-O</a:t>
            </a:r>
            <a:r>
              <a:rPr lang="en-US" sz="1200" dirty="0">
                <a:effectLst/>
                <a:latin typeface="Times New Roman" panose="02020603050405020304" pitchFamily="18" charset="0"/>
                <a:ea typeface="Calibri" panose="020F0502020204030204" pitchFamily="34" charset="0"/>
                <a:cs typeface="Latha" panose="020B0604020202020204" pitchFamily="34" charset="0"/>
              </a:rPr>
              <a:t> [Accessed on 26 July 2021].</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marR="0" algn="ctr">
              <a:lnSpc>
                <a:spcPct val="107000"/>
              </a:lnSpc>
              <a:spcBef>
                <a:spcPts val="0"/>
              </a:spcBef>
              <a:spcAft>
                <a:spcPts val="800"/>
              </a:spcAft>
            </a:pPr>
            <a:r>
              <a:rPr lang="en-US" sz="1200" b="1" dirty="0">
                <a:effectLst/>
                <a:latin typeface="Times New Roman" panose="02020603050405020304" pitchFamily="18" charset="0"/>
                <a:ea typeface="Calibri" panose="020F0502020204030204" pitchFamily="34" charset="0"/>
                <a:cs typeface="Latha" panose="020B0604020202020204" pitchFamily="34" charset="0"/>
              </a:rPr>
              <a:t> </a:t>
            </a:r>
            <a:endParaRPr lang="en-US" sz="1200" dirty="0">
              <a:effectLst/>
              <a:latin typeface="Calibri" panose="020F0502020204030204" pitchFamily="34" charset="0"/>
              <a:ea typeface="Calibri" panose="020F0502020204030204" pitchFamily="34" charset="0"/>
              <a:cs typeface="Latha" panose="020B0604020202020204" pitchFamily="34" charset="0"/>
            </a:endParaRPr>
          </a:p>
          <a:p>
            <a:pPr marL="0" indent="0">
              <a:buNone/>
            </a:pPr>
            <a:endParaRPr lang="en-US" dirty="0"/>
          </a:p>
        </p:txBody>
      </p:sp>
    </p:spTree>
    <p:extLst>
      <p:ext uri="{BB962C8B-B14F-4D97-AF65-F5344CB8AC3E}">
        <p14:creationId xmlns:p14="http://schemas.microsoft.com/office/powerpoint/2010/main" val="378887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D7903-8019-16E0-725C-09CEBBC22D8B}"/>
              </a:ext>
            </a:extLst>
          </p:cNvPr>
          <p:cNvSpPr>
            <a:spLocks noGrp="1"/>
          </p:cNvSpPr>
          <p:nvPr>
            <p:ph type="title"/>
          </p:nvPr>
        </p:nvSpPr>
        <p:spPr>
          <a:xfrm>
            <a:off x="609600" y="2857500"/>
            <a:ext cx="10972800" cy="1143000"/>
          </a:xfrm>
        </p:spPr>
        <p:txBody>
          <a:bodyPr/>
          <a:lstStyle/>
          <a:p>
            <a:r>
              <a:rPr lang="en-US" sz="80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450703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plate for VIVA Exam">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alpha val="49001"/>
          </a:schemeClr>
        </a:solidFill>
        <a:ln w="114300" cap="sq"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alpha val="49001"/>
          </a:schemeClr>
        </a:solidFill>
        <a:ln w="114300" cap="sq"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Template for VIVA Exam</Template>
  <TotalTime>711</TotalTime>
  <Words>3337</Words>
  <Application>Microsoft Office PowerPoint</Application>
  <PresentationFormat>Widescreen</PresentationFormat>
  <Paragraphs>420</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Symbol</vt:lpstr>
      <vt:lpstr>Times New Roman</vt:lpstr>
      <vt:lpstr>Wingdings</vt:lpstr>
      <vt:lpstr>Template for VIVA Exam</vt:lpstr>
      <vt:lpstr>PowerPoint Presentation</vt:lpstr>
      <vt:lpstr>Contents</vt:lpstr>
      <vt:lpstr>Chapter 1 : Introduction</vt:lpstr>
      <vt:lpstr>Chapter 1: Introduction Background of the Study</vt:lpstr>
      <vt:lpstr>Background of the Study</vt:lpstr>
      <vt:lpstr>Justification</vt:lpstr>
      <vt:lpstr>Objectives of the Study</vt:lpstr>
      <vt:lpstr>Objectives of the Study</vt:lpstr>
      <vt:lpstr>Limitations of the Study</vt:lpstr>
      <vt:lpstr>Chapter 2 : Research Methodology</vt:lpstr>
      <vt:lpstr>Chapter 2 : Research Methodology </vt:lpstr>
      <vt:lpstr>Chapter 3 : Results</vt:lpstr>
      <vt:lpstr>Chapter 3 : Results</vt:lpstr>
      <vt:lpstr>Chapter 3 : Results</vt:lpstr>
      <vt:lpstr>Chapter 3 : Results</vt:lpstr>
      <vt:lpstr>Chapter 3 : Results</vt:lpstr>
      <vt:lpstr>Chapter 3 : Results</vt:lpstr>
      <vt:lpstr>Chapter 3 : Results</vt:lpstr>
      <vt:lpstr>Chapter 4 : Discussion</vt:lpstr>
      <vt:lpstr>Chapter 5 : Conclusion and Recommendation</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SHARU MISTICA</dc:creator>
  <cp:lastModifiedBy>Fatema Shabbir Abbasbhoy</cp:lastModifiedBy>
  <cp:revision>17</cp:revision>
  <dcterms:created xsi:type="dcterms:W3CDTF">2022-09-16T06:27:15Z</dcterms:created>
  <dcterms:modified xsi:type="dcterms:W3CDTF">2024-05-21T04:43:56Z</dcterms:modified>
</cp:coreProperties>
</file>